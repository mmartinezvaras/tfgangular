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 type="screen16x9"/>
  <p:notesSz cx="6858000" cy="9144000"/>
  <p:defaultTextStyle>
    <a:defPPr>
      <a:defRPr lang="es-E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<Relationship Id="rId2" Type="http://schemas.openxmlformats.org/officeDocument/2006/relationships/slide" Target="slides/slide1.xml"/> <Relationship Id="rId3" Type="http://schemas.openxmlformats.org/officeDocument/2006/relationships/slide" Target="slides/slide2.xml"/> <Relationship Id="rId4" Type="http://schemas.openxmlformats.org/officeDocument/2006/relationships/slide" Target="slides/slide3.xml"/> <Relationship Id="rId5" Type="http://schemas.openxmlformats.org/officeDocument/2006/relationships/slide" Target="slides/slide4.xml"/> <Relationship Id="rId6" Type="http://schemas.openxmlformats.org/officeDocument/2006/relationships/slide" Target="slides/slide5.xml"/> <Relationship Id="rId7" Type="http://schemas.openxmlformats.org/officeDocument/2006/relationships/slide" Target="slides/slide6.xml"/> <Relationship Id="rId8" Type="http://schemas.openxmlformats.org/officeDocument/2006/relationships/slide" Target="slides/slide7.xml"/> <Relationship Id="rId9" Type="http://schemas.openxmlformats.org/officeDocument/2006/relationships/slide" Target="slides/slide8.xml"/> <Relationship Id="rId10" Type="http://schemas.openxmlformats.org/officeDocument/2006/relationships/slide" Target="slides/slide9.xml"/> <Relationship Id="rId11" Type="http://schemas.openxmlformats.org/officeDocument/2006/relationships/slide" Target="slides/slide10.xml"/> <Relationship Id="rId12" Type="http://schemas.openxmlformats.org/officeDocument/2006/relationships/slide" Target="slides/slide11.xml"/> <Relationship Id="rId13" Type="http://schemas.openxmlformats.org/officeDocument/2006/relationships/slide" Target="slides/slide12.xml"/> <Relationship Id="rId14" Type="http://schemas.openxmlformats.org/officeDocument/2006/relationships/slide" Target="slides/slide13.xml"/> <Relationship Id="rId15" Type="http://schemas.openxmlformats.org/officeDocument/2006/relationships/slide" Target="slides/slide14.xml"/> <Relationship Id="rId16" Type="http://schemas.openxmlformats.org/officeDocument/2006/relationships/slide" Target="slides/slide15.xml"/> <Relationship Id="rId17" Type="http://schemas.openxmlformats.org/officeDocument/2006/relationships/theme" Target="theme/theme1.xml"/> <Relationship Id="rId18" Type="http://schemas.openxmlformats.org/officeDocument/2006/relationships/presProps" Target="presProps.xml"/> <Relationship Id="rId19" Type="http://schemas.openxmlformats.org/officeDocument/2006/relationships/viewProps" Target="viewProps.xml"/> <Relationship Id="rId20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 b="1">
          <a:latin typeface="Georgia"/>
        </a:defRPr>
      </a:lvl1pPr>
    </p:titleStyle>
    <p:bodyStyle>
      <a:lvl1pPr>
        <a:defRPr sz="1800">
          <a:latin typeface="Aptos"/>
        </a:defRPr>
      </a:lvl1pPr>
    </p:bodyStyle>
    <p:otherStyle>
      <a:lvl1pPr>
        <a:defRPr sz="1600">
          <a:latin typeface="Apto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" Type="http://schemas.openxmlformats.org/officeDocument/2006/relationships/image" Target="../media/capture_01_inicio.png"/>
  <Relationship Id="rIdUrlCrop1" Type="http://schemas.openxmlformats.org/officeDocument/2006/relationships/image" Target="../media/urlcrop_01_inicio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2" Type="http://schemas.openxmlformats.org/officeDocument/2006/relationships/image" Target="../media/capture_02_menu.jpg"/>
  <Relationship Id="rIdUrlCrop2" Type="http://schemas.openxmlformats.org/officeDocument/2006/relationships/image" Target="../media/urlcrop_02_menu.jp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3" Type="http://schemas.openxmlformats.org/officeDocument/2006/relationships/image" Target="../media/capture_08_pdf.png"/>
  <Relationship Id="rIdUrlCrop3" Type="http://schemas.openxmlformats.org/officeDocument/2006/relationships/image" Target="../media/urlcrop_08_pdf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4" Type="http://schemas.openxmlformats.org/officeDocument/2006/relationships/image" Target="../media/capture_02_menu.jpg"/>
  <Relationship Id="rIdUrlCrop4" Type="http://schemas.openxmlformats.org/officeDocument/2006/relationships/image" Target="../media/urlcrop_02_menu.jp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5" Type="http://schemas.openxmlformats.org/officeDocument/2006/relationships/image" Target="../media/capture_01_inicio.png"/>
  <Relationship Id="rIdUrlCrop5" Type="http://schemas.openxmlformats.org/officeDocument/2006/relationships/image" Target="../media/urlcrop_01_inicio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6" Type="http://schemas.openxmlformats.org/officeDocument/2006/relationships/image" Target="../media/capture_01_inicio.png"/>
  <Relationship Id="rIdUrlCrop6" Type="http://schemas.openxmlformats.org/officeDocument/2006/relationships/image" Target="../media/urlcrop_01_inicio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7" Type="http://schemas.openxmlformats.org/officeDocument/2006/relationships/image" Target="../media/capture_02_menu.jpg"/>
  <Relationship Id="rIdUrlCrop7" Type="http://schemas.openxmlformats.org/officeDocument/2006/relationships/image" Target="../media/urlcrop_02_menu.jp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8" Type="http://schemas.openxmlformats.org/officeDocument/2006/relationships/image" Target="../media/capture_02_menu.jpg"/>
  <Relationship Id="rIdUrlCrop8" Type="http://schemas.openxmlformats.org/officeDocument/2006/relationships/image" Target="../media/urlcrop_02_menu.jp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9" Type="http://schemas.openxmlformats.org/officeDocument/2006/relationships/image" Target="../media/capture_03_carrito.jpg"/>
  <Relationship Id="rIdUrlCrop9" Type="http://schemas.openxmlformats.org/officeDocument/2006/relationships/image" Target="../media/urlcrop_03_carrito.jp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0" Type="http://schemas.openxmlformats.org/officeDocument/2006/relationships/image" Target="../media/capture_04_pago.jpg"/>
  <Relationship Id="rIdUrlCrop10" Type="http://schemas.openxmlformats.org/officeDocument/2006/relationships/image" Target="../media/urlcrop_04_pago.jp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1" Type="http://schemas.openxmlformats.org/officeDocument/2006/relationships/image" Target="../media/capture_08_pdf.png"/>
  <Relationship Id="rIdUrlCrop11" Type="http://schemas.openxmlformats.org/officeDocument/2006/relationships/image" Target="../media/urlcrop_08_pdf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2" Type="http://schemas.openxmlformats.org/officeDocument/2006/relationships/image" Target="../media/capture_05_factura_qr.jpg"/>
  <Relationship Id="rIdUrlCrop12" Type="http://schemas.openxmlformats.org/officeDocument/2006/relationships/image" Target="../media/urlcrop_05_factura_qr.jp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3" Type="http://schemas.openxmlformats.org/officeDocument/2006/relationships/image" Target="../media/capture_07_pago_realizado.png"/>
  <Relationship Id="rIdUrlCrop13" Type="http://schemas.openxmlformats.org/officeDocument/2006/relationships/image" Target="../media/urlcrop_07_pago_realizado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4" Type="http://schemas.openxmlformats.org/officeDocument/2006/relationships/image" Target="../media/capture_05_factura_qr.jpg"/>
  <Relationship Id="rIdUrlCrop14" Type="http://schemas.openxmlformats.org/officeDocument/2006/relationships/image" Target="../media/urlcrop_05_factura_qr.jp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Capture15" Type="http://schemas.openxmlformats.org/officeDocument/2006/relationships/image" Target="../media/capture_07_pago_realizado.png"/>
  <Relationship Id="rIdUrlCrop15" Type="http://schemas.openxmlformats.org/officeDocument/2006/relationships/image" Target="../media/urlcrop_07_pago_realizado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Shape 3"/>
          <p:cNvSpPr/>
          <p:nvPr/>
        </p:nvSpPr>
        <p:spPr>
          <a:xfrm>
            <a:off x="0" y="109728"/>
            <a:ext cx="12192000" cy="54864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" name="Shape 4"/>
          <p:cNvSpPr/>
          <p:nvPr/>
        </p:nvSpPr>
        <p:spPr>
          <a:xfrm>
            <a:off x="594360" y="658368"/>
            <a:ext cx="5321808" cy="528523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5" name="Shape 5"/>
          <p:cNvSpPr/>
          <p:nvPr/>
        </p:nvSpPr>
        <p:spPr>
          <a:xfrm>
            <a:off x="960120" y="987552"/>
            <a:ext cx="713232" cy="71323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6" name="Text 6"/>
          <p:cNvSpPr/>
          <p:nvPr/>
        </p:nvSpPr>
        <p:spPr>
          <a:xfrm>
            <a:off x="960120" y="1133856"/>
            <a:ext cx="713232" cy="2743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FFFFFF"/>
                </a:solidFill>
                <a:latin typeface="Georgia"/>
              </a:rPr>
              <a:t>RM</a:t>
            </a:r>
          </a:p>
        </p:txBody>
      </p:sp>
      <p:sp>
        <p:nvSpPr>
          <p:cNvPr id="7" name="Text 7"/>
          <p:cNvSpPr/>
          <p:nvPr/>
        </p:nvSpPr>
        <p:spPr>
          <a:xfrm>
            <a:off x="932688" y="1901952"/>
            <a:ext cx="4645152" cy="6583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3600" b="1">
                <a:solidFill>
                  <a:srgbClr val="0E3A68"/>
                </a:solidFill>
                <a:latin typeface="Georgia"/>
              </a:rPr>
              <a:t>Restaurante Marcos</a:t>
            </a:r>
          </a:p>
        </p:txBody>
      </p:sp>
      <p:sp>
        <p:nvSpPr>
          <p:cNvPr id="8" name="Text 8"/>
          <p:cNvSpPr/>
          <p:nvPr/>
        </p:nvSpPr>
        <p:spPr>
          <a:xfrm>
            <a:off x="960120" y="2615184"/>
            <a:ext cx="4526280" cy="53035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600">
                <a:solidFill>
                  <a:srgbClr val="5E4035"/>
                </a:solidFill>
                <a:latin typeface="Aptos"/>
              </a:rPr>
              <a:t>Aplicación web para gestión de pedidos en restaurante</a:t>
            </a:r>
          </a:p>
        </p:txBody>
      </p:sp>
      <p:sp>
        <p:nvSpPr>
          <p:cNvPr id="9" name="Text 9"/>
          <p:cNvSpPr/>
          <p:nvPr/>
        </p:nvSpPr>
        <p:spPr>
          <a:xfrm>
            <a:off x="960120" y="3364992"/>
            <a:ext cx="1353312" cy="310896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Aptos"/>
              </a:rPr>
              <a:t>Angular</a:t>
            </a:r>
          </a:p>
        </p:txBody>
      </p:sp>
      <p:sp>
        <p:nvSpPr>
          <p:cNvPr id="10" name="Text 10"/>
          <p:cNvSpPr/>
          <p:nvPr/>
        </p:nvSpPr>
        <p:spPr>
          <a:xfrm>
            <a:off x="2468880" y="3364992"/>
            <a:ext cx="1536192" cy="310896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Aptos"/>
              </a:rPr>
              <a:t>Spring Boot</a:t>
            </a:r>
          </a:p>
        </p:txBody>
      </p:sp>
      <p:sp>
        <p:nvSpPr>
          <p:cNvPr id="11" name="Text 11"/>
          <p:cNvSpPr/>
          <p:nvPr/>
        </p:nvSpPr>
        <p:spPr>
          <a:xfrm>
            <a:off x="4160520" y="3364992"/>
            <a:ext cx="1005840" cy="310896"/>
          </a:xfrm>
          <a:prstGeom prst="roundRect">
            <a:avLst/>
          </a:prstGeom>
          <a:solidFill>
            <a:srgbClr val="145C9E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Aptos"/>
              </a:rPr>
              <a:t>MySQL</a:t>
            </a:r>
          </a:p>
        </p:txBody>
      </p:sp>
      <p:sp>
        <p:nvSpPr>
          <p:cNvPr id="12" name="Text 12"/>
          <p:cNvSpPr/>
          <p:nvPr/>
        </p:nvSpPr>
        <p:spPr>
          <a:xfrm>
            <a:off x="960120" y="4041648"/>
            <a:ext cx="4343400" cy="5029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>
                <a:solidFill>
                  <a:srgbClr val="241915"/>
                </a:solidFill>
                <a:latin typeface="Aptos"/>
              </a:rPr>
              <a:t>Guía de demostración paso a paso para explicar el uso de la aplicación.</a:t>
            </a:r>
          </a:p>
        </p:txBody>
      </p:sp>
      <p:sp>
        <p:nvSpPr>
          <p:cNvPr id="13" name="Shape 13"/>
          <p:cNvSpPr/>
          <p:nvPr/>
        </p:nvSpPr>
        <p:spPr>
          <a:xfrm>
            <a:off x="6446520" y="777240"/>
            <a:ext cx="5074920" cy="5257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4" name="Shape 14"/>
          <p:cNvSpPr/>
          <p:nvPr/>
        </p:nvSpPr>
        <p:spPr>
          <a:xfrm>
            <a:off x="6611112" y="94183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5" name="Shape 15"/>
          <p:cNvSpPr/>
          <p:nvPr/>
        </p:nvSpPr>
        <p:spPr>
          <a:xfrm>
            <a:off x="6702552" y="100584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766560" y="95097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Text 17"/>
          <p:cNvSpPr/>
          <p:nvPr/>
        </p:nvSpPr>
        <p:spPr>
          <a:xfrm>
            <a:off x="6446520" y="3241548"/>
            <a:ext cx="507492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8" name="Text 18"/>
          <p:cNvSpPr/>
          <p:nvPr/>
        </p:nvSpPr>
        <p:spPr>
          <a:xfrm>
            <a:off x="6766560" y="5614416"/>
            <a:ext cx="443484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Logo o captura principal</a:t>
            </a:r>
          </a:p>
        </p:txBody>
      </p:sp>
      <p:sp>
        <p:nvSpPr>
          <p:cNvPr id="19" name="Shape 19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0" name="Shape 20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1" name="Text 21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2" name="Text 22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01</a:t>
            </a:r>
          </a:p>
        </p:txBody>
      </p:sp>
      <p:sp>
        <p:nvSpPr>
          <p:cNvPr id="23" name="Fondo captura 23"/>
          <p:cNvSpPr/>
          <p:nvPr/>
        </p:nvSpPr>
        <p:spPr>
          <a:xfrm>
            <a:off x="6446520" y="777240"/>
            <a:ext cx="5074920" cy="5257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24" name="01_inicio.png"/>
          <p:cNvPicPr>
            <a:picLocks noChangeAspect="1"/>
          </p:cNvPicPr>
          <p:nvPr/>
        </p:nvPicPr>
        <p:blipFill>
          <a:blip r:embed="rIdCapture1"/>
          <a:stretch>
            <a:fillRect/>
          </a:stretch>
        </p:blipFill>
        <p:spPr>
          <a:xfrm>
            <a:off x="6611112" y="1870020"/>
            <a:ext cx="4745736" cy="307224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25" name="Fondo captura recortada 25"/>
          <p:cNvSpPr/>
          <p:nvPr/>
        </p:nvSpPr>
        <p:spPr>
          <a:xfrm>
            <a:off x="6446520" y="777240"/>
            <a:ext cx="5074920" cy="5257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26" name="urlcrop_01_inicio.png"/>
          <p:cNvPicPr>
            <a:picLocks noChangeAspect="1"/>
          </p:cNvPicPr>
          <p:nvPr/>
        </p:nvPicPr>
        <p:blipFill>
          <a:blip r:embed="rIdUrlCrop1"/>
          <a:srcRect t="11500"/>
          <a:stretch>
            <a:fillRect/>
          </a:stretch>
        </p:blipFill>
        <p:spPr>
          <a:xfrm>
            <a:off x="6611112" y="2046674"/>
            <a:ext cx="4745736" cy="2718932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OBJETIVO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Qué problema resuelve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Una forma sencilla de pedir y pagar desde una mesa compartida.</a:t>
            </a:r>
          </a:p>
        </p:txBody>
      </p:sp>
      <p:sp>
        <p:nvSpPr>
          <p:cNvPr id="6" name="Shape 6"/>
          <p:cNvSpPr/>
          <p:nvPr/>
        </p:nvSpPr>
        <p:spPr>
          <a:xfrm>
            <a:off x="749808" y="1783080"/>
            <a:ext cx="3246120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914400" y="1947672"/>
            <a:ext cx="118872" cy="768096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8" name="Text 8"/>
          <p:cNvSpPr/>
          <p:nvPr/>
        </p:nvSpPr>
        <p:spPr>
          <a:xfrm>
            <a:off x="1161288" y="1965960"/>
            <a:ext cx="26791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Pedidos organizados</a:t>
            </a:r>
          </a:p>
        </p:txBody>
      </p:sp>
      <p:sp>
        <p:nvSpPr>
          <p:cNvPr id="9" name="Text 9"/>
          <p:cNvSpPr/>
          <p:nvPr/>
        </p:nvSpPr>
        <p:spPr>
          <a:xfrm>
            <a:off x="1161288" y="2304288"/>
            <a:ext cx="2679192" cy="4297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Cada cliente añade sus productos sin perder de vista la cuenta común.</a:t>
            </a:r>
          </a:p>
        </p:txBody>
      </p:sp>
      <p:sp>
        <p:nvSpPr>
          <p:cNvPr id="10" name="Shape 10"/>
          <p:cNvSpPr/>
          <p:nvPr/>
        </p:nvSpPr>
        <p:spPr>
          <a:xfrm>
            <a:off x="749808" y="3090672"/>
            <a:ext cx="3246120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914400" y="3255264"/>
            <a:ext cx="118872" cy="768096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2" name="Text 12"/>
          <p:cNvSpPr/>
          <p:nvPr/>
        </p:nvSpPr>
        <p:spPr>
          <a:xfrm>
            <a:off x="1161288" y="3273552"/>
            <a:ext cx="26791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Pago flexible</a:t>
            </a:r>
          </a:p>
        </p:txBody>
      </p:sp>
      <p:sp>
        <p:nvSpPr>
          <p:cNvPr id="13" name="Text 13"/>
          <p:cNvSpPr/>
          <p:nvPr/>
        </p:nvSpPr>
        <p:spPr>
          <a:xfrm>
            <a:off x="1161288" y="3611880"/>
            <a:ext cx="2679192" cy="4297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La sala permite pagar todo junto o separar el importe por persona.</a:t>
            </a:r>
          </a:p>
        </p:txBody>
      </p:sp>
      <p:sp>
        <p:nvSpPr>
          <p:cNvPr id="14" name="Shape 14"/>
          <p:cNvSpPr/>
          <p:nvPr/>
        </p:nvSpPr>
        <p:spPr>
          <a:xfrm>
            <a:off x="749808" y="4407408"/>
            <a:ext cx="3246120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914400" y="4572000"/>
            <a:ext cx="118872" cy="768096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6" name="Text 16"/>
          <p:cNvSpPr/>
          <p:nvPr/>
        </p:nvSpPr>
        <p:spPr>
          <a:xfrm>
            <a:off x="1161288" y="4590288"/>
            <a:ext cx="26791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Validación clara</a:t>
            </a:r>
          </a:p>
        </p:txBody>
      </p:sp>
      <p:sp>
        <p:nvSpPr>
          <p:cNvPr id="17" name="Text 17"/>
          <p:cNvSpPr/>
          <p:nvPr/>
        </p:nvSpPr>
        <p:spPr>
          <a:xfrm>
            <a:off x="1161288" y="4928616"/>
            <a:ext cx="2679192" cy="4297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El camarero confirma el pedido mediante un código QR temporal.</a:t>
            </a:r>
          </a:p>
        </p:txBody>
      </p:sp>
      <p:sp>
        <p:nvSpPr>
          <p:cNvPr id="18" name="Shape 18"/>
          <p:cNvSpPr/>
          <p:nvPr/>
        </p:nvSpPr>
        <p:spPr>
          <a:xfrm>
            <a:off x="4645152" y="1664208"/>
            <a:ext cx="6903720" cy="398678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9" name="Shape 19"/>
          <p:cNvSpPr/>
          <p:nvPr/>
        </p:nvSpPr>
        <p:spPr>
          <a:xfrm>
            <a:off x="4809744" y="1828800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0" name="Shape 20"/>
          <p:cNvSpPr/>
          <p:nvPr/>
        </p:nvSpPr>
        <p:spPr>
          <a:xfrm>
            <a:off x="4901184" y="1892808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21" name="Shape 21"/>
          <p:cNvSpPr/>
          <p:nvPr/>
        </p:nvSpPr>
        <p:spPr>
          <a:xfrm>
            <a:off x="4965192" y="1837944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22" name="Text 22"/>
          <p:cNvSpPr/>
          <p:nvPr/>
        </p:nvSpPr>
        <p:spPr>
          <a:xfrm>
            <a:off x="4645152" y="3493008"/>
            <a:ext cx="690372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23" name="Text 23"/>
          <p:cNvSpPr/>
          <p:nvPr/>
        </p:nvSpPr>
        <p:spPr>
          <a:xfrm>
            <a:off x="4965192" y="5230368"/>
            <a:ext cx="626364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Pantalla que mejor represente el proyecto</a:t>
            </a:r>
          </a:p>
        </p:txBody>
      </p:sp>
      <p:sp>
        <p:nvSpPr>
          <p:cNvPr id="24" name="Shape 24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5" name="Shape 25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6" name="Text 26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7" name="Text 27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02</a:t>
            </a:r>
          </a:p>
        </p:txBody>
      </p:sp>
      <p:sp>
        <p:nvSpPr>
          <p:cNvPr id="28" name="Fondo captura 28"/>
          <p:cNvSpPr/>
          <p:nvPr/>
        </p:nvSpPr>
        <p:spPr>
          <a:xfrm>
            <a:off x="4645152" y="1664208"/>
            <a:ext cx="6903720" cy="39867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29" name="02_menu.png"/>
          <p:cNvPicPr>
            <a:picLocks noChangeAspect="1"/>
          </p:cNvPicPr>
          <p:nvPr/>
        </p:nvPicPr>
        <p:blipFill>
          <a:blip r:embed="rIdCapture2"/>
          <a:stretch>
            <a:fillRect/>
          </a:stretch>
        </p:blipFill>
        <p:spPr>
          <a:xfrm>
            <a:off x="5271019" y="1828800"/>
            <a:ext cx="5651986" cy="365760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0" name="Fondo captura recortada 30"/>
          <p:cNvSpPr/>
          <p:nvPr/>
        </p:nvSpPr>
        <p:spPr>
          <a:xfrm>
            <a:off x="4645152" y="1664208"/>
            <a:ext cx="6903720" cy="398678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1" name="urlcrop_02_menu.jpg"/>
          <p:cNvPicPr>
            <a:picLocks noChangeAspect="1"/>
          </p:cNvPicPr>
          <p:nvPr/>
        </p:nvPicPr>
        <p:blipFill>
          <a:blip r:embed="rIdUrlCrop2"/>
          <a:srcRect t="11500"/>
          <a:stretch>
            <a:fillRect/>
          </a:stretch>
        </p:blipFill>
        <p:spPr>
          <a:xfrm>
            <a:off x="4903800" y="1828800"/>
            <a:ext cx="6386424" cy="365760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TECNOLOGÍAS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Stack utilizado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Frontend, backend, persistencia y generación de documentos.</a:t>
            </a:r>
          </a:p>
        </p:txBody>
      </p:sp>
      <p:sp>
        <p:nvSpPr>
          <p:cNvPr id="6" name="Shape 6"/>
          <p:cNvSpPr/>
          <p:nvPr/>
        </p:nvSpPr>
        <p:spPr>
          <a:xfrm>
            <a:off x="786384" y="1664208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950976" y="1874520"/>
            <a:ext cx="521208" cy="521208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8" name="Text 8"/>
          <p:cNvSpPr/>
          <p:nvPr/>
        </p:nvSpPr>
        <p:spPr>
          <a:xfrm>
            <a:off x="950976" y="2002536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9" name="Text 9"/>
          <p:cNvSpPr/>
          <p:nvPr/>
        </p:nvSpPr>
        <p:spPr>
          <a:xfrm>
            <a:off x="1627632" y="1837944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Angular</a:t>
            </a:r>
          </a:p>
        </p:txBody>
      </p:sp>
      <p:sp>
        <p:nvSpPr>
          <p:cNvPr id="10" name="Text 10"/>
          <p:cNvSpPr/>
          <p:nvPr/>
        </p:nvSpPr>
        <p:spPr>
          <a:xfrm>
            <a:off x="1627632" y="2121408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Interfaz web y componentes de la aplicación.</a:t>
            </a:r>
          </a:p>
        </p:txBody>
      </p:sp>
      <p:sp>
        <p:nvSpPr>
          <p:cNvPr id="11" name="Shape 11"/>
          <p:cNvSpPr/>
          <p:nvPr/>
        </p:nvSpPr>
        <p:spPr>
          <a:xfrm>
            <a:off x="4288536" y="1664208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4453128" y="1874520"/>
            <a:ext cx="521208" cy="521208"/>
          </a:xfrm>
          <a:prstGeom prst="ellipse">
            <a:avLst/>
          </a:prstGeom>
          <a:solidFill>
            <a:srgbClr val="33C98D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4453128" y="2002536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SB</a:t>
            </a:r>
          </a:p>
        </p:txBody>
      </p:sp>
      <p:sp>
        <p:nvSpPr>
          <p:cNvPr id="14" name="Text 14"/>
          <p:cNvSpPr/>
          <p:nvPr/>
        </p:nvSpPr>
        <p:spPr>
          <a:xfrm>
            <a:off x="5129784" y="1837944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Spring Boot</a:t>
            </a:r>
          </a:p>
        </p:txBody>
      </p:sp>
      <p:sp>
        <p:nvSpPr>
          <p:cNvPr id="15" name="Text 15"/>
          <p:cNvSpPr/>
          <p:nvPr/>
        </p:nvSpPr>
        <p:spPr>
          <a:xfrm>
            <a:off x="5129784" y="2121408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API REST y lógica del servidor.</a:t>
            </a:r>
          </a:p>
        </p:txBody>
      </p:sp>
      <p:sp>
        <p:nvSpPr>
          <p:cNvPr id="16" name="Shape 16"/>
          <p:cNvSpPr/>
          <p:nvPr/>
        </p:nvSpPr>
        <p:spPr>
          <a:xfrm>
            <a:off x="7790688" y="1664208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955280" y="1874520"/>
            <a:ext cx="521208" cy="521208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8" name="Text 18"/>
          <p:cNvSpPr/>
          <p:nvPr/>
        </p:nvSpPr>
        <p:spPr>
          <a:xfrm>
            <a:off x="7955280" y="2002536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SQL</a:t>
            </a:r>
          </a:p>
        </p:txBody>
      </p:sp>
      <p:sp>
        <p:nvSpPr>
          <p:cNvPr id="19" name="Text 19"/>
          <p:cNvSpPr/>
          <p:nvPr/>
        </p:nvSpPr>
        <p:spPr>
          <a:xfrm>
            <a:off x="8631936" y="1837944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MySQL</a:t>
            </a:r>
          </a:p>
        </p:txBody>
      </p:sp>
      <p:sp>
        <p:nvSpPr>
          <p:cNvPr id="20" name="Text 20"/>
          <p:cNvSpPr/>
          <p:nvPr/>
        </p:nvSpPr>
        <p:spPr>
          <a:xfrm>
            <a:off x="8631936" y="2121408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Base de datos para productos y pedidos.</a:t>
            </a:r>
          </a:p>
        </p:txBody>
      </p:sp>
      <p:sp>
        <p:nvSpPr>
          <p:cNvPr id="21" name="Shape 21"/>
          <p:cNvSpPr/>
          <p:nvPr/>
        </p:nvSpPr>
        <p:spPr>
          <a:xfrm>
            <a:off x="786384" y="3090672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950976" y="3300984"/>
            <a:ext cx="521208" cy="521208"/>
          </a:xfrm>
          <a:prstGeom prst="ellipse">
            <a:avLst/>
          </a:prstGeom>
          <a:solidFill>
            <a:srgbClr val="B70F1B"/>
          </a:solidFill>
          <a:ln w="12700">
            <a:noFill/>
          </a:ln>
          <a:effectLst/>
        </p:spPr>
      </p:sp>
      <p:sp>
        <p:nvSpPr>
          <p:cNvPr id="23" name="Text 23"/>
          <p:cNvSpPr/>
          <p:nvPr/>
        </p:nvSpPr>
        <p:spPr>
          <a:xfrm>
            <a:off x="950976" y="3429000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24" name="Text 24"/>
          <p:cNvSpPr/>
          <p:nvPr/>
        </p:nvSpPr>
        <p:spPr>
          <a:xfrm>
            <a:off x="1627632" y="3264408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PrimeNG</a:t>
            </a:r>
          </a:p>
        </p:txBody>
      </p:sp>
      <p:sp>
        <p:nvSpPr>
          <p:cNvPr id="25" name="Text 25"/>
          <p:cNvSpPr/>
          <p:nvPr/>
        </p:nvSpPr>
        <p:spPr>
          <a:xfrm>
            <a:off x="1627632" y="3547872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Componentes visuales y controles.</a:t>
            </a:r>
          </a:p>
        </p:txBody>
      </p:sp>
      <p:sp>
        <p:nvSpPr>
          <p:cNvPr id="26" name="Shape 26"/>
          <p:cNvSpPr/>
          <p:nvPr/>
        </p:nvSpPr>
        <p:spPr>
          <a:xfrm>
            <a:off x="4288536" y="3090672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7" name="Shape 27"/>
          <p:cNvSpPr/>
          <p:nvPr/>
        </p:nvSpPr>
        <p:spPr>
          <a:xfrm>
            <a:off x="4453128" y="3300984"/>
            <a:ext cx="521208" cy="521208"/>
          </a:xfrm>
          <a:prstGeom prst="ellipse">
            <a:avLst/>
          </a:prstGeom>
          <a:solidFill>
            <a:srgbClr val="145C9E"/>
          </a:solidFill>
          <a:ln w="12700">
            <a:noFill/>
          </a:ln>
          <a:effectLst/>
        </p:spPr>
      </p:sp>
      <p:sp>
        <p:nvSpPr>
          <p:cNvPr id="28" name="Text 28"/>
          <p:cNvSpPr/>
          <p:nvPr/>
        </p:nvSpPr>
        <p:spPr>
          <a:xfrm>
            <a:off x="4453128" y="3429000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PDF</a:t>
            </a:r>
          </a:p>
        </p:txBody>
      </p:sp>
      <p:sp>
        <p:nvSpPr>
          <p:cNvPr id="29" name="Text 29"/>
          <p:cNvSpPr/>
          <p:nvPr/>
        </p:nvSpPr>
        <p:spPr>
          <a:xfrm>
            <a:off x="5129784" y="3264408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jsPDF</a:t>
            </a:r>
          </a:p>
        </p:txBody>
      </p:sp>
      <p:sp>
        <p:nvSpPr>
          <p:cNvPr id="30" name="Text 30"/>
          <p:cNvSpPr/>
          <p:nvPr/>
        </p:nvSpPr>
        <p:spPr>
          <a:xfrm>
            <a:off x="5129784" y="3547872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Generación de factura descargable.</a:t>
            </a:r>
          </a:p>
        </p:txBody>
      </p:sp>
      <p:sp>
        <p:nvSpPr>
          <p:cNvPr id="31" name="Shape 31"/>
          <p:cNvSpPr/>
          <p:nvPr/>
        </p:nvSpPr>
        <p:spPr>
          <a:xfrm>
            <a:off x="7790688" y="3090672"/>
            <a:ext cx="3063240" cy="10332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32" name="Shape 32"/>
          <p:cNvSpPr/>
          <p:nvPr/>
        </p:nvSpPr>
        <p:spPr>
          <a:xfrm>
            <a:off x="7955280" y="3300984"/>
            <a:ext cx="521208" cy="521208"/>
          </a:xfrm>
          <a:prstGeom prst="ellipse">
            <a:avLst/>
          </a:prstGeom>
          <a:solidFill>
            <a:srgbClr val="1F2024"/>
          </a:solidFill>
          <a:ln w="12700">
            <a:noFill/>
          </a:ln>
          <a:effectLst/>
        </p:spPr>
      </p:sp>
      <p:sp>
        <p:nvSpPr>
          <p:cNvPr id="33" name="Text 33"/>
          <p:cNvSpPr/>
          <p:nvPr/>
        </p:nvSpPr>
        <p:spPr>
          <a:xfrm>
            <a:off x="7955280" y="3429000"/>
            <a:ext cx="521208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80" b="1">
                <a:solidFill>
                  <a:srgbClr val="FFFFFF"/>
                </a:solidFill>
                <a:latin typeface="Aptos"/>
              </a:rPr>
              <a:t>QR</a:t>
            </a:r>
          </a:p>
        </p:txBody>
      </p:sp>
      <p:sp>
        <p:nvSpPr>
          <p:cNvPr id="34" name="Text 34"/>
          <p:cNvSpPr/>
          <p:nvPr/>
        </p:nvSpPr>
        <p:spPr>
          <a:xfrm>
            <a:off x="8631936" y="3264408"/>
            <a:ext cx="1901952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Código QR</a:t>
            </a:r>
          </a:p>
        </p:txBody>
      </p:sp>
      <p:sp>
        <p:nvSpPr>
          <p:cNvPr id="35" name="Text 35"/>
          <p:cNvSpPr/>
          <p:nvPr/>
        </p:nvSpPr>
        <p:spPr>
          <a:xfrm>
            <a:off x="8631936" y="3547872"/>
            <a:ext cx="19202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19">
                <a:solidFill>
                  <a:srgbClr val="5E4035"/>
                </a:solidFill>
                <a:latin typeface="Aptos"/>
              </a:rPr>
              <a:t>Validación del pedido por camarero.</a:t>
            </a:r>
          </a:p>
        </p:txBody>
      </p:sp>
      <p:sp>
        <p:nvSpPr>
          <p:cNvPr id="36" name="Shape 36"/>
          <p:cNvSpPr/>
          <p:nvPr/>
        </p:nvSpPr>
        <p:spPr>
          <a:xfrm>
            <a:off x="2999232" y="4800600"/>
            <a:ext cx="61722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37" name="Shape 37"/>
          <p:cNvSpPr/>
          <p:nvPr/>
        </p:nvSpPr>
        <p:spPr>
          <a:xfrm>
            <a:off x="3163824" y="496519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38" name="Shape 38"/>
          <p:cNvSpPr/>
          <p:nvPr/>
        </p:nvSpPr>
        <p:spPr>
          <a:xfrm>
            <a:off x="3255264" y="502920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39" name="Shape 39"/>
          <p:cNvSpPr/>
          <p:nvPr/>
        </p:nvSpPr>
        <p:spPr>
          <a:xfrm>
            <a:off x="3319272" y="497433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40" name="Text 40"/>
          <p:cNvSpPr/>
          <p:nvPr/>
        </p:nvSpPr>
        <p:spPr>
          <a:xfrm>
            <a:off x="2999232" y="5253228"/>
            <a:ext cx="617220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41" name="Text 41"/>
          <p:cNvSpPr/>
          <p:nvPr/>
        </p:nvSpPr>
        <p:spPr>
          <a:xfrm>
            <a:off x="3319272" y="5614416"/>
            <a:ext cx="553212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Captura técnica, dependencias o estructura del proyecto</a:t>
            </a:r>
          </a:p>
        </p:txBody>
      </p:sp>
      <p:sp>
        <p:nvSpPr>
          <p:cNvPr id="42" name="Shape 42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3" name="Shape 43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44" name="Text 44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45" name="Text 45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03</a:t>
            </a:r>
          </a:p>
        </p:txBody>
      </p:sp>
      <p:sp>
        <p:nvSpPr>
          <p:cNvPr id="46" name="Fondo captura 46"/>
          <p:cNvSpPr/>
          <p:nvPr/>
        </p:nvSpPr>
        <p:spPr>
          <a:xfrm>
            <a:off x="2999232" y="4800600"/>
            <a:ext cx="61722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47" name="08_pdf.png"/>
          <p:cNvPicPr>
            <a:picLocks noChangeAspect="1"/>
          </p:cNvPicPr>
          <p:nvPr/>
        </p:nvPicPr>
        <p:blipFill>
          <a:blip r:embed="rIdCapture3"/>
          <a:stretch>
            <a:fillRect/>
          </a:stretch>
        </p:blipFill>
        <p:spPr>
          <a:xfrm>
            <a:off x="5227246" y="4862322"/>
            <a:ext cx="1716173" cy="1110996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48" name="Fondo captura recortada 48"/>
          <p:cNvSpPr/>
          <p:nvPr/>
        </p:nvSpPr>
        <p:spPr>
          <a:xfrm>
            <a:off x="2999232" y="4800600"/>
            <a:ext cx="6172200" cy="12344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49" name="urlcrop_08_pdf.png"/>
          <p:cNvPicPr>
            <a:picLocks noChangeAspect="1"/>
          </p:cNvPicPr>
          <p:nvPr/>
        </p:nvPicPr>
        <p:blipFill>
          <a:blip r:embed="rIdUrlCrop3"/>
          <a:srcRect t="11500"/>
          <a:stretch>
            <a:fillRect/>
          </a:stretch>
        </p:blipFill>
        <p:spPr>
          <a:xfrm>
            <a:off x="5115743" y="4862322"/>
            <a:ext cx="1939178" cy="1110996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FLUJO GENERAL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Recorrido de la aplicación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La demo puede seguir este orden de principio a fin.</a:t>
            </a:r>
          </a:p>
        </p:txBody>
      </p:sp>
      <p:sp>
        <p:nvSpPr>
          <p:cNvPr id="6" name="Shape 6"/>
          <p:cNvSpPr/>
          <p:nvPr/>
        </p:nvSpPr>
        <p:spPr>
          <a:xfrm>
            <a:off x="749808" y="187452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859536" y="2002536"/>
            <a:ext cx="310896" cy="310896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8" name="Text 8"/>
          <p:cNvSpPr/>
          <p:nvPr/>
        </p:nvSpPr>
        <p:spPr>
          <a:xfrm>
            <a:off x="859536" y="203911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 9"/>
          <p:cNvSpPr/>
          <p:nvPr/>
        </p:nvSpPr>
        <p:spPr>
          <a:xfrm>
            <a:off x="1252728" y="203911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Inicio</a:t>
            </a:r>
          </a:p>
        </p:txBody>
      </p:sp>
      <p:sp>
        <p:nvSpPr>
          <p:cNvPr id="10" name="Text 10"/>
          <p:cNvSpPr/>
          <p:nvPr/>
        </p:nvSpPr>
        <p:spPr>
          <a:xfrm>
            <a:off x="2011680" y="203911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11" name="Shape 11"/>
          <p:cNvSpPr/>
          <p:nvPr/>
        </p:nvSpPr>
        <p:spPr>
          <a:xfrm>
            <a:off x="2167128" y="187452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2276856" y="2002536"/>
            <a:ext cx="310896" cy="310896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2276856" y="203911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 14"/>
          <p:cNvSpPr/>
          <p:nvPr/>
        </p:nvSpPr>
        <p:spPr>
          <a:xfrm>
            <a:off x="2670048" y="203911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Sala</a:t>
            </a:r>
          </a:p>
        </p:txBody>
      </p:sp>
      <p:sp>
        <p:nvSpPr>
          <p:cNvPr id="15" name="Text 15"/>
          <p:cNvSpPr/>
          <p:nvPr/>
        </p:nvSpPr>
        <p:spPr>
          <a:xfrm>
            <a:off x="3429000" y="203911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16" name="Shape 16"/>
          <p:cNvSpPr/>
          <p:nvPr/>
        </p:nvSpPr>
        <p:spPr>
          <a:xfrm>
            <a:off x="3584448" y="187452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3694176" y="2002536"/>
            <a:ext cx="310896" cy="310896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8" name="Text 18"/>
          <p:cNvSpPr/>
          <p:nvPr/>
        </p:nvSpPr>
        <p:spPr>
          <a:xfrm>
            <a:off x="3694176" y="203911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 19"/>
          <p:cNvSpPr/>
          <p:nvPr/>
        </p:nvSpPr>
        <p:spPr>
          <a:xfrm>
            <a:off x="4087368" y="203911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Menú</a:t>
            </a:r>
          </a:p>
        </p:txBody>
      </p:sp>
      <p:sp>
        <p:nvSpPr>
          <p:cNvPr id="20" name="Text 20"/>
          <p:cNvSpPr/>
          <p:nvPr/>
        </p:nvSpPr>
        <p:spPr>
          <a:xfrm>
            <a:off x="4846320" y="203911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21" name="Shape 21"/>
          <p:cNvSpPr/>
          <p:nvPr/>
        </p:nvSpPr>
        <p:spPr>
          <a:xfrm>
            <a:off x="5001768" y="187452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5111496" y="2002536"/>
            <a:ext cx="310896" cy="310896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3" name="Text 23"/>
          <p:cNvSpPr/>
          <p:nvPr/>
        </p:nvSpPr>
        <p:spPr>
          <a:xfrm>
            <a:off x="5111496" y="203911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 24"/>
          <p:cNvSpPr/>
          <p:nvPr/>
        </p:nvSpPr>
        <p:spPr>
          <a:xfrm>
            <a:off x="5504688" y="203911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Carrito</a:t>
            </a:r>
          </a:p>
        </p:txBody>
      </p:sp>
      <p:sp>
        <p:nvSpPr>
          <p:cNvPr id="25" name="Shape 25"/>
          <p:cNvSpPr/>
          <p:nvPr/>
        </p:nvSpPr>
        <p:spPr>
          <a:xfrm>
            <a:off x="749808" y="315468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6" name="Shape 26"/>
          <p:cNvSpPr/>
          <p:nvPr/>
        </p:nvSpPr>
        <p:spPr>
          <a:xfrm>
            <a:off x="859536" y="3282696"/>
            <a:ext cx="310896" cy="310896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7" name="Text 27"/>
          <p:cNvSpPr/>
          <p:nvPr/>
        </p:nvSpPr>
        <p:spPr>
          <a:xfrm>
            <a:off x="859536" y="331927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 28"/>
          <p:cNvSpPr/>
          <p:nvPr/>
        </p:nvSpPr>
        <p:spPr>
          <a:xfrm>
            <a:off x="1252728" y="331927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Pago</a:t>
            </a:r>
          </a:p>
        </p:txBody>
      </p:sp>
      <p:sp>
        <p:nvSpPr>
          <p:cNvPr id="29" name="Text 29"/>
          <p:cNvSpPr/>
          <p:nvPr/>
        </p:nvSpPr>
        <p:spPr>
          <a:xfrm>
            <a:off x="2011680" y="331927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30" name="Shape 30"/>
          <p:cNvSpPr/>
          <p:nvPr/>
        </p:nvSpPr>
        <p:spPr>
          <a:xfrm>
            <a:off x="2167128" y="315468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31" name="Shape 31"/>
          <p:cNvSpPr/>
          <p:nvPr/>
        </p:nvSpPr>
        <p:spPr>
          <a:xfrm>
            <a:off x="2276856" y="3282696"/>
            <a:ext cx="310896" cy="310896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2" name="Text 32"/>
          <p:cNvSpPr/>
          <p:nvPr/>
        </p:nvSpPr>
        <p:spPr>
          <a:xfrm>
            <a:off x="2276856" y="331927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 33"/>
          <p:cNvSpPr/>
          <p:nvPr/>
        </p:nvSpPr>
        <p:spPr>
          <a:xfrm>
            <a:off x="2670048" y="331927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Factura</a:t>
            </a:r>
          </a:p>
        </p:txBody>
      </p:sp>
      <p:sp>
        <p:nvSpPr>
          <p:cNvPr id="34" name="Text 34"/>
          <p:cNvSpPr/>
          <p:nvPr/>
        </p:nvSpPr>
        <p:spPr>
          <a:xfrm>
            <a:off x="3429000" y="331927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35" name="Shape 35"/>
          <p:cNvSpPr/>
          <p:nvPr/>
        </p:nvSpPr>
        <p:spPr>
          <a:xfrm>
            <a:off x="3584448" y="315468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36" name="Shape 36"/>
          <p:cNvSpPr/>
          <p:nvPr/>
        </p:nvSpPr>
        <p:spPr>
          <a:xfrm>
            <a:off x="3694176" y="3282696"/>
            <a:ext cx="310896" cy="310896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7" name="Text 37"/>
          <p:cNvSpPr/>
          <p:nvPr/>
        </p:nvSpPr>
        <p:spPr>
          <a:xfrm>
            <a:off x="3694176" y="331927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38" name="Text 38"/>
          <p:cNvSpPr/>
          <p:nvPr/>
        </p:nvSpPr>
        <p:spPr>
          <a:xfrm>
            <a:off x="4087368" y="331927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QR</a:t>
            </a:r>
          </a:p>
        </p:txBody>
      </p:sp>
      <p:sp>
        <p:nvSpPr>
          <p:cNvPr id="39" name="Text 39"/>
          <p:cNvSpPr/>
          <p:nvPr/>
        </p:nvSpPr>
        <p:spPr>
          <a:xfrm>
            <a:off x="4846320" y="3319272"/>
            <a:ext cx="22860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40" name="Shape 40"/>
          <p:cNvSpPr/>
          <p:nvPr/>
        </p:nvSpPr>
        <p:spPr>
          <a:xfrm>
            <a:off x="5001768" y="3154680"/>
            <a:ext cx="1261872" cy="58521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41" name="Shape 41"/>
          <p:cNvSpPr/>
          <p:nvPr/>
        </p:nvSpPr>
        <p:spPr>
          <a:xfrm>
            <a:off x="5111496" y="3282696"/>
            <a:ext cx="310896" cy="310896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2" name="Text 42"/>
          <p:cNvSpPr/>
          <p:nvPr/>
        </p:nvSpPr>
        <p:spPr>
          <a:xfrm>
            <a:off x="5111496" y="3319272"/>
            <a:ext cx="310896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43" name="Text 43"/>
          <p:cNvSpPr/>
          <p:nvPr/>
        </p:nvSpPr>
        <p:spPr>
          <a:xfrm>
            <a:off x="5504688" y="3319272"/>
            <a:ext cx="65836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 b="1">
                <a:solidFill>
                  <a:srgbClr val="0E3A68"/>
                </a:solidFill>
                <a:latin typeface="Aptos"/>
              </a:rPr>
              <a:t>Validación</a:t>
            </a:r>
          </a:p>
        </p:txBody>
      </p:sp>
      <p:sp>
        <p:nvSpPr>
          <p:cNvPr id="44" name="Text 44"/>
          <p:cNvSpPr/>
          <p:nvPr/>
        </p:nvSpPr>
        <p:spPr>
          <a:xfrm>
            <a:off x="3456432" y="2633472"/>
            <a:ext cx="292608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500" b="1">
                <a:solidFill>
                  <a:srgbClr val="7A5D52"/>
                </a:solidFill>
                <a:latin typeface="Aptos"/>
              </a:rPr>
              <a:t>↓</a:t>
            </a:r>
          </a:p>
        </p:txBody>
      </p:sp>
      <p:sp>
        <p:nvSpPr>
          <p:cNvPr id="45" name="Shape 45"/>
          <p:cNvSpPr/>
          <p:nvPr/>
        </p:nvSpPr>
        <p:spPr>
          <a:xfrm>
            <a:off x="6903720" y="1874520"/>
            <a:ext cx="4434840" cy="190195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46" name="Shape 46"/>
          <p:cNvSpPr/>
          <p:nvPr/>
        </p:nvSpPr>
        <p:spPr>
          <a:xfrm>
            <a:off x="7068312" y="20391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47" name="Shape 47"/>
          <p:cNvSpPr/>
          <p:nvPr/>
        </p:nvSpPr>
        <p:spPr>
          <a:xfrm>
            <a:off x="7159752" y="21031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48" name="Shape 48"/>
          <p:cNvSpPr/>
          <p:nvPr/>
        </p:nvSpPr>
        <p:spPr>
          <a:xfrm>
            <a:off x="7223760" y="20482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49" name="Text 49"/>
          <p:cNvSpPr/>
          <p:nvPr/>
        </p:nvSpPr>
        <p:spPr>
          <a:xfrm>
            <a:off x="6903720" y="2660904"/>
            <a:ext cx="44348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50" name="Text 50"/>
          <p:cNvSpPr/>
          <p:nvPr/>
        </p:nvSpPr>
        <p:spPr>
          <a:xfrm>
            <a:off x="7223760" y="3355848"/>
            <a:ext cx="379476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Captura resumen del recorrido o mosaico de pantallas</a:t>
            </a:r>
          </a:p>
        </p:txBody>
      </p:sp>
      <p:sp>
        <p:nvSpPr>
          <p:cNvPr id="51" name="Shape 51"/>
          <p:cNvSpPr/>
          <p:nvPr/>
        </p:nvSpPr>
        <p:spPr>
          <a:xfrm>
            <a:off x="6903720" y="4069080"/>
            <a:ext cx="4434840" cy="10241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52" name="Shape 52"/>
          <p:cNvSpPr/>
          <p:nvPr/>
        </p:nvSpPr>
        <p:spPr>
          <a:xfrm>
            <a:off x="7068312" y="4233672"/>
            <a:ext cx="118872" cy="694944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53" name="Text 53"/>
          <p:cNvSpPr/>
          <p:nvPr/>
        </p:nvSpPr>
        <p:spPr>
          <a:xfrm>
            <a:off x="7315200" y="4251960"/>
            <a:ext cx="386791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Idea de la demo</a:t>
            </a:r>
          </a:p>
        </p:txBody>
      </p:sp>
      <p:sp>
        <p:nvSpPr>
          <p:cNvPr id="54" name="Text 54"/>
          <p:cNvSpPr/>
          <p:nvPr/>
        </p:nvSpPr>
        <p:spPr>
          <a:xfrm>
            <a:off x="7315200" y="4590288"/>
            <a:ext cx="3867912" cy="35661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Entrar como cliente, añadir un producto, revisar la cuenta, pagar y validar el pedido.</a:t>
            </a:r>
          </a:p>
        </p:txBody>
      </p:sp>
      <p:sp>
        <p:nvSpPr>
          <p:cNvPr id="55" name="Shape 55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6" name="Shape 56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57" name="Text 57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58" name="Text 58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04</a:t>
            </a:r>
          </a:p>
        </p:txBody>
      </p:sp>
      <p:sp>
        <p:nvSpPr>
          <p:cNvPr id="59" name="Fondo captura 59"/>
          <p:cNvSpPr/>
          <p:nvPr/>
        </p:nvSpPr>
        <p:spPr>
          <a:xfrm>
            <a:off x="6903720" y="1874520"/>
            <a:ext cx="4434840" cy="1901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60" name="02_menu.png"/>
          <p:cNvPicPr>
            <a:picLocks noChangeAspect="1"/>
          </p:cNvPicPr>
          <p:nvPr/>
        </p:nvPicPr>
        <p:blipFill>
          <a:blip r:embed="rIdCapture4"/>
          <a:stretch>
            <a:fillRect/>
          </a:stretch>
        </p:blipFill>
        <p:spPr>
          <a:xfrm>
            <a:off x="7798575" y="1969618"/>
            <a:ext cx="2645129" cy="1711757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61" name="Fondo captura recortada 61"/>
          <p:cNvSpPr/>
          <p:nvPr/>
        </p:nvSpPr>
        <p:spPr>
          <a:xfrm>
            <a:off x="6903720" y="1874520"/>
            <a:ext cx="4434840" cy="1901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62" name="urlcrop_02_menu.jpg"/>
          <p:cNvPicPr>
            <a:picLocks noChangeAspect="1"/>
          </p:cNvPicPr>
          <p:nvPr/>
        </p:nvPicPr>
        <p:blipFill>
          <a:blip r:embed="rIdUrlCrop4"/>
          <a:srcRect t="11500"/>
          <a:stretch>
            <a:fillRect/>
          </a:stretch>
        </p:blipFill>
        <p:spPr>
          <a:xfrm>
            <a:off x="7626717" y="1969618"/>
            <a:ext cx="2988847" cy="1711757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1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Inicio de la aplicación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El cliente se identifica antes de entrar al menú.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Introduce su nombre.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Escribe el código de sala.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Pulsa Entrar a la sala para continuar.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Pantalla de inicio con nombre y código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05</a:t>
            </a:r>
          </a:p>
        </p:txBody>
      </p:sp>
      <p:sp>
        <p:nvSpPr>
          <p:cNvPr id="24" name="Shape 24"/>
          <p:cNvSpPr/>
          <p:nvPr/>
        </p:nvSpPr>
        <p:spPr>
          <a:xfrm>
            <a:off x="1005840" y="3877056"/>
            <a:ext cx="3401568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Text 25"/>
          <p:cNvSpPr/>
          <p:nvPr/>
        </p:nvSpPr>
        <p:spPr>
          <a:xfrm>
            <a:off x="1234440" y="4069080"/>
            <a:ext cx="68580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50" b="1">
                <a:solidFill>
                  <a:srgbClr val="E11924"/>
                </a:solidFill>
                <a:latin typeface="Aptos"/>
              </a:rPr>
              <a:t>Nombre</a:t>
            </a:r>
          </a:p>
        </p:txBody>
      </p:sp>
      <p:sp>
        <p:nvSpPr>
          <p:cNvPr id="26" name="Shape 26"/>
          <p:cNvSpPr/>
          <p:nvPr/>
        </p:nvSpPr>
        <p:spPr>
          <a:xfrm>
            <a:off x="1901952" y="4005072"/>
            <a:ext cx="20574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7" name="Text 27"/>
          <p:cNvSpPr/>
          <p:nvPr/>
        </p:nvSpPr>
        <p:spPr>
          <a:xfrm>
            <a:off x="2011680" y="4069080"/>
            <a:ext cx="1463040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00">
                <a:solidFill>
                  <a:srgbClr val="7A5D52"/>
                </a:solidFill>
                <a:latin typeface="Aptos"/>
              </a:rPr>
              <a:t>Marcos</a:t>
            </a:r>
          </a:p>
        </p:txBody>
      </p:sp>
      <p:sp>
        <p:nvSpPr>
          <p:cNvPr id="28" name="Text 28"/>
          <p:cNvSpPr/>
          <p:nvPr/>
        </p:nvSpPr>
        <p:spPr>
          <a:xfrm>
            <a:off x="1234440" y="4480560"/>
            <a:ext cx="68580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50" b="1">
                <a:solidFill>
                  <a:srgbClr val="E11924"/>
                </a:solidFill>
                <a:latin typeface="Aptos"/>
              </a:rPr>
              <a:t>Código</a:t>
            </a:r>
          </a:p>
        </p:txBody>
      </p:sp>
      <p:sp>
        <p:nvSpPr>
          <p:cNvPr id="29" name="Shape 29"/>
          <p:cNvSpPr/>
          <p:nvPr/>
        </p:nvSpPr>
        <p:spPr>
          <a:xfrm>
            <a:off x="1901952" y="4425696"/>
            <a:ext cx="20574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/>
        </p:spPr>
      </p:sp>
      <p:sp>
        <p:nvSpPr>
          <p:cNvPr id="30" name="Text 30"/>
          <p:cNvSpPr/>
          <p:nvPr/>
        </p:nvSpPr>
        <p:spPr>
          <a:xfrm>
            <a:off x="2011680" y="4489704"/>
            <a:ext cx="1463040" cy="16459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00">
                <a:solidFill>
                  <a:srgbClr val="7A5D52"/>
                </a:solidFill>
                <a:latin typeface="Aptos"/>
              </a:rPr>
              <a:t>41j</a:t>
            </a:r>
          </a:p>
        </p:txBody>
      </p:sp>
      <p:sp>
        <p:nvSpPr>
          <p:cNvPr id="31" name="Fondo captura 31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2" name="01_inicio.png"/>
          <p:cNvPicPr>
            <a:picLocks noChangeAspect="1"/>
          </p:cNvPicPr>
          <p:nvPr/>
        </p:nvPicPr>
        <p:blipFill>
          <a:blip r:embed="rIdCapture5"/>
          <a:stretch>
            <a:fillRect/>
          </a:stretch>
        </p:blipFill>
        <p:spPr>
          <a:xfrm>
            <a:off x="6062472" y="1963024"/>
            <a:ext cx="5065776" cy="327942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3" name="Fondo captura recortada 33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4" name="urlcrop_01_inicio.png"/>
          <p:cNvPicPr>
            <a:picLocks noChangeAspect="1"/>
          </p:cNvPicPr>
          <p:nvPr/>
        </p:nvPicPr>
        <p:blipFill>
          <a:blip r:embed="rIdUrlCrop5"/>
          <a:srcRect t="11500"/>
          <a:stretch>
            <a:fillRect/>
          </a:stretch>
        </p:blipFill>
        <p:spPr>
          <a:xfrm>
            <a:off x="6062472" y="2151591"/>
            <a:ext cx="5065776" cy="290229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2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Creación o acceso a una sala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El código funciona como punto de encuentro de la mesa.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Si la sala no existe, se crea.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Si ya existe, el usuario se une.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Todos comparten el mismo carrito de la sala.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Acceso a sala compartida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06</a:t>
            </a:r>
          </a:p>
        </p:txBody>
      </p:sp>
      <p:sp>
        <p:nvSpPr>
          <p:cNvPr id="24" name="Shape 24"/>
          <p:cNvSpPr/>
          <p:nvPr/>
        </p:nvSpPr>
        <p:spPr>
          <a:xfrm>
            <a:off x="960120" y="3977640"/>
            <a:ext cx="658368" cy="658368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5" name="Shape 25"/>
          <p:cNvSpPr/>
          <p:nvPr/>
        </p:nvSpPr>
        <p:spPr>
          <a:xfrm>
            <a:off x="1828800" y="3977640"/>
            <a:ext cx="658368" cy="658368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6" name="Shape 26"/>
          <p:cNvSpPr/>
          <p:nvPr/>
        </p:nvSpPr>
        <p:spPr>
          <a:xfrm>
            <a:off x="2697480" y="3977640"/>
            <a:ext cx="658368" cy="658368"/>
          </a:xfrm>
          <a:prstGeom prst="ellipse">
            <a:avLst/>
          </a:prstGeom>
          <a:solidFill>
            <a:srgbClr val="145C9E"/>
          </a:solidFill>
          <a:ln w="12700">
            <a:noFill/>
          </a:ln>
          <a:effectLst/>
        </p:spPr>
      </p:sp>
      <p:sp>
        <p:nvSpPr>
          <p:cNvPr id="27" name="Text 27"/>
          <p:cNvSpPr/>
          <p:nvPr/>
        </p:nvSpPr>
        <p:spPr>
          <a:xfrm>
            <a:off x="950976" y="4187952"/>
            <a:ext cx="658368" cy="14630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U1</a:t>
            </a:r>
          </a:p>
        </p:txBody>
      </p:sp>
      <p:sp>
        <p:nvSpPr>
          <p:cNvPr id="28" name="Text 28"/>
          <p:cNvSpPr/>
          <p:nvPr/>
        </p:nvSpPr>
        <p:spPr>
          <a:xfrm>
            <a:off x="1828800" y="4187952"/>
            <a:ext cx="658368" cy="14630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U2</a:t>
            </a:r>
          </a:p>
        </p:txBody>
      </p:sp>
      <p:sp>
        <p:nvSpPr>
          <p:cNvPr id="29" name="Text 29"/>
          <p:cNvSpPr/>
          <p:nvPr/>
        </p:nvSpPr>
        <p:spPr>
          <a:xfrm>
            <a:off x="2697480" y="4187952"/>
            <a:ext cx="658368" cy="14630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U3</a:t>
            </a:r>
          </a:p>
        </p:txBody>
      </p:sp>
      <p:sp>
        <p:nvSpPr>
          <p:cNvPr id="30" name="Text 30"/>
          <p:cNvSpPr/>
          <p:nvPr/>
        </p:nvSpPr>
        <p:spPr>
          <a:xfrm>
            <a:off x="3547872" y="4160520"/>
            <a:ext cx="320040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5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31" name="Text 31"/>
          <p:cNvSpPr/>
          <p:nvPr/>
        </p:nvSpPr>
        <p:spPr>
          <a:xfrm>
            <a:off x="3895344" y="3950208"/>
            <a:ext cx="1261872" cy="594360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  <p:txBody>
          <a:bodyPr wrap="square" anchor="ctr" lIns="36576" tIns="36576" rIns="36576" bIns="36576">
            <a:spAutoFit/>
          </a:bodyPr>
          <a:lstStyle/>
          <a:p>
            <a:pPr algn="ctr"/>
            <a:r>
              <a:rPr lang="es-ES" sz="1300" b="1">
                <a:solidFill>
                  <a:srgbClr val="FFFFFF"/>
                </a:solidFill>
                <a:latin typeface="Aptos"/>
              </a:rPr>
              <a:t>Sala</a:t>
            </a:r>
          </a:p>
          <a:p>
            <a:pPr algn="ctr"/>
            <a:r>
              <a:rPr lang="es-ES" sz="1300" b="1">
                <a:solidFill>
                  <a:srgbClr val="FFFFFF"/>
                </a:solidFill>
                <a:latin typeface="Aptos"/>
              </a:rPr>
              <a:t>41j</a:t>
            </a:r>
          </a:p>
        </p:txBody>
      </p:sp>
      <p:sp>
        <p:nvSpPr>
          <p:cNvPr id="32" name="Fondo captura 32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3" name="01_inicio.png"/>
          <p:cNvPicPr>
            <a:picLocks noChangeAspect="1"/>
          </p:cNvPicPr>
          <p:nvPr/>
        </p:nvPicPr>
        <p:blipFill>
          <a:blip r:embed="rIdCapture6"/>
          <a:stretch>
            <a:fillRect/>
          </a:stretch>
        </p:blipFill>
        <p:spPr>
          <a:xfrm>
            <a:off x="6062472" y="1963024"/>
            <a:ext cx="5065776" cy="327942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4" name="Fondo captura recortada 3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5" name="urlcrop_01_inicio.png"/>
          <p:cNvPicPr>
            <a:picLocks noChangeAspect="1"/>
          </p:cNvPicPr>
          <p:nvPr/>
        </p:nvPicPr>
        <p:blipFill>
          <a:blip r:embed="rIdUrlCrop6"/>
          <a:srcRect t="11500"/>
          <a:stretch>
            <a:fillRect/>
          </a:stretch>
        </p:blipFill>
        <p:spPr>
          <a:xfrm>
            <a:off x="6062472" y="2151591"/>
            <a:ext cx="5065776" cy="290229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3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Menú de productos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El usuario navega por categorías y busca productos.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Categorías: bebidas, primeros, segundos y postres.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Buscador para localizar productos rápido.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Tarjetas con imagen, nombre, precio y botón de añadir.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Pantalla del menú de productos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07</a:t>
            </a:r>
          </a:p>
        </p:txBody>
      </p:sp>
      <p:sp>
        <p:nvSpPr>
          <p:cNvPr id="24" name="Shape 24"/>
          <p:cNvSpPr/>
          <p:nvPr/>
        </p:nvSpPr>
        <p:spPr>
          <a:xfrm>
            <a:off x="841248" y="4005072"/>
            <a:ext cx="4251960" cy="94183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Text 25"/>
          <p:cNvSpPr/>
          <p:nvPr/>
        </p:nvSpPr>
        <p:spPr>
          <a:xfrm>
            <a:off x="1042416" y="4187952"/>
            <a:ext cx="749808" cy="310896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FFFFFF"/>
                </a:solidFill>
                <a:latin typeface="Aptos"/>
              </a:rPr>
              <a:t>Bebidas</a:t>
            </a:r>
          </a:p>
        </p:txBody>
      </p:sp>
      <p:sp>
        <p:nvSpPr>
          <p:cNvPr id="26" name="Text 26"/>
          <p:cNvSpPr/>
          <p:nvPr/>
        </p:nvSpPr>
        <p:spPr>
          <a:xfrm>
            <a:off x="1938528" y="4187952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0E3A68"/>
                </a:solidFill>
                <a:latin typeface="Aptos"/>
              </a:rPr>
              <a:t>Primeros</a:t>
            </a:r>
          </a:p>
        </p:txBody>
      </p:sp>
      <p:sp>
        <p:nvSpPr>
          <p:cNvPr id="27" name="Text 27"/>
          <p:cNvSpPr/>
          <p:nvPr/>
        </p:nvSpPr>
        <p:spPr>
          <a:xfrm>
            <a:off x="2834640" y="4187952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0E3A68"/>
                </a:solidFill>
                <a:latin typeface="Aptos"/>
              </a:rPr>
              <a:t>Segundos</a:t>
            </a:r>
          </a:p>
        </p:txBody>
      </p:sp>
      <p:sp>
        <p:nvSpPr>
          <p:cNvPr id="28" name="Text 28"/>
          <p:cNvSpPr/>
          <p:nvPr/>
        </p:nvSpPr>
        <p:spPr>
          <a:xfrm>
            <a:off x="3730752" y="4187952"/>
            <a:ext cx="749808" cy="310896"/>
          </a:xfrm>
          <a:prstGeom prst="roundRect">
            <a:avLst/>
          </a:prstGeom>
          <a:solidFill>
            <a:srgbClr val="FFFFFF"/>
          </a:solidFill>
          <a:ln w="12700">
            <a:noFill/>
          </a:ln>
          <a:effectLst/>
        </p:spPr>
        <p:txBody>
          <a:bodyPr wrap="square" anchor="ctr" lIns="18288" tIns="18288" rIns="18288" bIns="18288">
            <a:spAutoFit/>
          </a:bodyPr>
          <a:lstStyle/>
          <a:p>
            <a:pPr algn="ctr"/>
            <a:r>
              <a:rPr lang="es-ES" sz="1050" b="1">
                <a:solidFill>
                  <a:srgbClr val="0E3A68"/>
                </a:solidFill>
                <a:latin typeface="Aptos"/>
              </a:rPr>
              <a:t>Postres</a:t>
            </a:r>
          </a:p>
        </p:txBody>
      </p:sp>
      <p:sp>
        <p:nvSpPr>
          <p:cNvPr id="29" name="Shape 29"/>
          <p:cNvSpPr/>
          <p:nvPr/>
        </p:nvSpPr>
        <p:spPr>
          <a:xfrm>
            <a:off x="4553712" y="4187952"/>
            <a:ext cx="329184" cy="29260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0" name="Text 30"/>
          <p:cNvSpPr/>
          <p:nvPr/>
        </p:nvSpPr>
        <p:spPr>
          <a:xfrm>
            <a:off x="4553712" y="4242816"/>
            <a:ext cx="329184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1000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1" name="Fondo captura 31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2" name="02_menu.png"/>
          <p:cNvPicPr>
            <a:picLocks noChangeAspect="1"/>
          </p:cNvPicPr>
          <p:nvPr/>
        </p:nvPicPr>
        <p:blipFill>
          <a:blip r:embed="rIdCapture7"/>
          <a:stretch>
            <a:fillRect/>
          </a:stretch>
        </p:blipFill>
        <p:spPr>
          <a:xfrm>
            <a:off x="6062472" y="1963614"/>
            <a:ext cx="5065776" cy="327824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3" name="Fondo captura recortada 33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4" name="urlcrop_02_menu.jpg"/>
          <p:cNvPicPr>
            <a:picLocks noChangeAspect="1"/>
          </p:cNvPicPr>
          <p:nvPr/>
        </p:nvPicPr>
        <p:blipFill>
          <a:blip r:embed="rIdUrlCrop7"/>
          <a:srcRect t="11500"/>
          <a:stretch>
            <a:fillRect/>
          </a:stretch>
        </p:blipFill>
        <p:spPr>
          <a:xfrm>
            <a:off x="6062472" y="2152113"/>
            <a:ext cx="5065776" cy="2901245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4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Añadir productos al carrito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Cada producto se incorpora al pedido de la sala.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Se selecciona el producto del menú.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Se indica la cantidad deseada.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La aplicación suma el subtotal automáticamente.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Selección de producto y cantidad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08</a:t>
            </a:r>
          </a:p>
        </p:txBody>
      </p:sp>
      <p:sp>
        <p:nvSpPr>
          <p:cNvPr id="24" name="Shape 24"/>
          <p:cNvSpPr/>
          <p:nvPr/>
        </p:nvSpPr>
        <p:spPr>
          <a:xfrm>
            <a:off x="950976" y="3886200"/>
            <a:ext cx="3611880" cy="114300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Text 25"/>
          <p:cNvSpPr/>
          <p:nvPr/>
        </p:nvSpPr>
        <p:spPr>
          <a:xfrm>
            <a:off x="1188720" y="4087368"/>
            <a:ext cx="160020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0E3A68"/>
                </a:solidFill>
                <a:latin typeface="Aptos"/>
              </a:rPr>
              <a:t>Cerveza</a:t>
            </a:r>
          </a:p>
        </p:txBody>
      </p:sp>
      <p:sp>
        <p:nvSpPr>
          <p:cNvPr id="26" name="Text 26"/>
          <p:cNvSpPr/>
          <p:nvPr/>
        </p:nvSpPr>
        <p:spPr>
          <a:xfrm>
            <a:off x="1188720" y="4443984"/>
            <a:ext cx="84124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E11924"/>
                </a:solidFill>
                <a:latin typeface="Aptos"/>
              </a:rPr>
              <a:t>3 €</a:t>
            </a:r>
          </a:p>
        </p:txBody>
      </p:sp>
      <p:sp>
        <p:nvSpPr>
          <p:cNvPr id="27" name="Shape 27"/>
          <p:cNvSpPr/>
          <p:nvPr/>
        </p:nvSpPr>
        <p:spPr>
          <a:xfrm>
            <a:off x="2450592" y="4315968"/>
            <a:ext cx="117043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8" name="Text 28"/>
          <p:cNvSpPr/>
          <p:nvPr/>
        </p:nvSpPr>
        <p:spPr>
          <a:xfrm>
            <a:off x="2615184" y="4370832"/>
            <a:ext cx="15544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100" b="1">
                <a:solidFill>
                  <a:srgbClr val="0E3A68"/>
                </a:solidFill>
                <a:latin typeface="Aptos"/>
              </a:rPr>
              <a:t>−</a:t>
            </a:r>
          </a:p>
        </p:txBody>
      </p:sp>
      <p:sp>
        <p:nvSpPr>
          <p:cNvPr id="29" name="Text 29"/>
          <p:cNvSpPr/>
          <p:nvPr/>
        </p:nvSpPr>
        <p:spPr>
          <a:xfrm>
            <a:off x="2907792" y="4370832"/>
            <a:ext cx="15544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100" b="1">
                <a:solidFill>
                  <a:srgbClr val="241915"/>
                </a:solidFill>
                <a:latin typeface="Aptos"/>
              </a:rPr>
              <a:t>1</a:t>
            </a:r>
          </a:p>
        </p:txBody>
      </p:sp>
      <p:sp>
        <p:nvSpPr>
          <p:cNvPr id="30" name="Text 30"/>
          <p:cNvSpPr/>
          <p:nvPr/>
        </p:nvSpPr>
        <p:spPr>
          <a:xfrm>
            <a:off x="3200400" y="4370832"/>
            <a:ext cx="15544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100" b="1">
                <a:solidFill>
                  <a:srgbClr val="0E3A68"/>
                </a:solidFill>
                <a:latin typeface="Aptos"/>
              </a:rPr>
              <a:t>+</a:t>
            </a:r>
          </a:p>
        </p:txBody>
      </p:sp>
      <p:sp>
        <p:nvSpPr>
          <p:cNvPr id="31" name="Shape 31"/>
          <p:cNvSpPr/>
          <p:nvPr/>
        </p:nvSpPr>
        <p:spPr>
          <a:xfrm>
            <a:off x="3767328" y="4297680"/>
            <a:ext cx="566928" cy="347472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2" name="Text 32"/>
          <p:cNvSpPr/>
          <p:nvPr/>
        </p:nvSpPr>
        <p:spPr>
          <a:xfrm>
            <a:off x="3767328" y="4379976"/>
            <a:ext cx="56692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750" b="1">
                <a:solidFill>
                  <a:srgbClr val="FFFFFF"/>
                </a:solidFill>
                <a:latin typeface="Aptos"/>
              </a:rPr>
              <a:t>Añadir</a:t>
            </a:r>
          </a:p>
        </p:txBody>
      </p:sp>
      <p:sp>
        <p:nvSpPr>
          <p:cNvPr id="33" name="Fondo captura 33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4" name="02_menu.png"/>
          <p:cNvPicPr>
            <a:picLocks noChangeAspect="1"/>
          </p:cNvPicPr>
          <p:nvPr/>
        </p:nvPicPr>
        <p:blipFill>
          <a:blip r:embed="rIdCapture8"/>
          <a:stretch>
            <a:fillRect/>
          </a:stretch>
        </p:blipFill>
        <p:spPr>
          <a:xfrm>
            <a:off x="6062472" y="1963614"/>
            <a:ext cx="5065776" cy="327824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5" name="Fondo captura recortada 35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6" name="urlcrop_02_menu.jpg"/>
          <p:cNvPicPr>
            <a:picLocks noChangeAspect="1"/>
          </p:cNvPicPr>
          <p:nvPr/>
        </p:nvPicPr>
        <p:blipFill>
          <a:blip r:embed="rIdUrlCrop8"/>
          <a:srcRect t="11500"/>
          <a:stretch>
            <a:fillRect/>
          </a:stretch>
        </p:blipFill>
        <p:spPr>
          <a:xfrm>
            <a:off x="6062472" y="2152113"/>
            <a:ext cx="5065776" cy="2901245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5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Carrito compartido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La sala muestra lo que ha pedido cada persona.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Todos ven el resumen común.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Cada usuario puede editar sus propios productos.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El total y las unidades se actualizan al momento.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Carrito con productos de la sala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09</a:t>
            </a:r>
          </a:p>
        </p:txBody>
      </p:sp>
      <p:sp>
        <p:nvSpPr>
          <p:cNvPr id="24" name="Shape 24"/>
          <p:cNvSpPr/>
          <p:nvPr/>
        </p:nvSpPr>
        <p:spPr>
          <a:xfrm>
            <a:off x="896112" y="3822192"/>
            <a:ext cx="4526280" cy="130759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Text 25"/>
          <p:cNvSpPr/>
          <p:nvPr/>
        </p:nvSpPr>
        <p:spPr>
          <a:xfrm>
            <a:off x="1115568" y="3986784"/>
            <a:ext cx="10972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Tu carrito</a:t>
            </a:r>
          </a:p>
        </p:txBody>
      </p:sp>
      <p:sp>
        <p:nvSpPr>
          <p:cNvPr id="26" name="Shape 26"/>
          <p:cNvSpPr/>
          <p:nvPr/>
        </p:nvSpPr>
        <p:spPr>
          <a:xfrm>
            <a:off x="3730752" y="3931920"/>
            <a:ext cx="685800" cy="47548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7" name="Text 27"/>
          <p:cNvSpPr/>
          <p:nvPr/>
        </p:nvSpPr>
        <p:spPr>
          <a:xfrm>
            <a:off x="3730752" y="4041648"/>
            <a:ext cx="685800" cy="1188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1 ud.</a:t>
            </a:r>
          </a:p>
        </p:txBody>
      </p:sp>
      <p:sp>
        <p:nvSpPr>
          <p:cNvPr id="28" name="Shape 28"/>
          <p:cNvSpPr/>
          <p:nvPr/>
        </p:nvSpPr>
        <p:spPr>
          <a:xfrm>
            <a:off x="4507992" y="3931920"/>
            <a:ext cx="685800" cy="475488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9" name="Text 29"/>
          <p:cNvSpPr/>
          <p:nvPr/>
        </p:nvSpPr>
        <p:spPr>
          <a:xfrm>
            <a:off x="4507992" y="4041648"/>
            <a:ext cx="685800" cy="1188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3 €</a:t>
            </a:r>
          </a:p>
        </p:txBody>
      </p:sp>
      <p:sp>
        <p:nvSpPr>
          <p:cNvPr id="30" name="Shape 30"/>
          <p:cNvSpPr/>
          <p:nvPr/>
        </p:nvSpPr>
        <p:spPr>
          <a:xfrm>
            <a:off x="1115568" y="4462272"/>
            <a:ext cx="3977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/>
        </p:spPr>
      </p:sp>
      <p:sp>
        <p:nvSpPr>
          <p:cNvPr id="31" name="Text 31"/>
          <p:cNvSpPr/>
          <p:nvPr/>
        </p:nvSpPr>
        <p:spPr>
          <a:xfrm>
            <a:off x="1280160" y="4553712"/>
            <a:ext cx="2011680" cy="1188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00">
                <a:solidFill>
                  <a:srgbClr val="241915"/>
                </a:solidFill>
                <a:latin typeface="Aptos"/>
              </a:rPr>
              <a:t>Cerveza · pedido por asdasd</a:t>
            </a:r>
          </a:p>
        </p:txBody>
      </p:sp>
      <p:sp>
        <p:nvSpPr>
          <p:cNvPr id="32" name="Fondo captura 32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3" name="03_carrito.png"/>
          <p:cNvPicPr>
            <a:picLocks noChangeAspect="1"/>
          </p:cNvPicPr>
          <p:nvPr/>
        </p:nvPicPr>
        <p:blipFill>
          <a:blip r:embed="rIdCapture9"/>
          <a:stretch>
            <a:fillRect/>
          </a:stretch>
        </p:blipFill>
        <p:spPr>
          <a:xfrm>
            <a:off x="6062472" y="1963614"/>
            <a:ext cx="5065776" cy="327824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4" name="Fondo captura recortada 3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5" name="urlcrop_03_carrito.jpg"/>
          <p:cNvPicPr>
            <a:picLocks noChangeAspect="1"/>
          </p:cNvPicPr>
          <p:nvPr/>
        </p:nvPicPr>
        <p:blipFill>
          <a:blip r:embed="rIdUrlCrop9"/>
          <a:srcRect t="11500"/>
          <a:stretch>
            <a:fillRect/>
          </a:stretch>
        </p:blipFill>
        <p:spPr>
          <a:xfrm>
            <a:off x="6062472" y="2152113"/>
            <a:ext cx="5065776" cy="2901245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6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Pago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La aplicación ofrece dos formas de cerrar la cuenta.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Pago conjunto: una única factura para la sala.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Pago individual: cada persona paga sus productos.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Se genera una operación temporal para continuar.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Pantalla con pago conjunto o separado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10</a:t>
            </a:r>
          </a:p>
        </p:txBody>
      </p:sp>
      <p:sp>
        <p:nvSpPr>
          <p:cNvPr id="24" name="Shape 24"/>
          <p:cNvSpPr/>
          <p:nvPr/>
        </p:nvSpPr>
        <p:spPr>
          <a:xfrm>
            <a:off x="932688" y="3730752"/>
            <a:ext cx="1965960" cy="10241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1097280" y="3895344"/>
            <a:ext cx="118872" cy="694944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6" name="Text 26"/>
          <p:cNvSpPr/>
          <p:nvPr/>
        </p:nvSpPr>
        <p:spPr>
          <a:xfrm>
            <a:off x="1344168" y="3913632"/>
            <a:ext cx="139903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Pago conjunto</a:t>
            </a:r>
          </a:p>
        </p:txBody>
      </p:sp>
      <p:sp>
        <p:nvSpPr>
          <p:cNvPr id="27" name="Text 27"/>
          <p:cNvSpPr/>
          <p:nvPr/>
        </p:nvSpPr>
        <p:spPr>
          <a:xfrm>
            <a:off x="1344168" y="4251960"/>
            <a:ext cx="1399032" cy="35661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Una persona paga el total de la mesa.</a:t>
            </a:r>
          </a:p>
        </p:txBody>
      </p:sp>
      <p:sp>
        <p:nvSpPr>
          <p:cNvPr id="28" name="Shape 28"/>
          <p:cNvSpPr/>
          <p:nvPr/>
        </p:nvSpPr>
        <p:spPr>
          <a:xfrm>
            <a:off x="3145536" y="3730752"/>
            <a:ext cx="1965960" cy="1024128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9" name="Shape 29"/>
          <p:cNvSpPr/>
          <p:nvPr/>
        </p:nvSpPr>
        <p:spPr>
          <a:xfrm>
            <a:off x="3310128" y="3895344"/>
            <a:ext cx="118872" cy="694944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0" name="Text 30"/>
          <p:cNvSpPr/>
          <p:nvPr/>
        </p:nvSpPr>
        <p:spPr>
          <a:xfrm>
            <a:off x="3557016" y="3913632"/>
            <a:ext cx="139903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Pago separado</a:t>
            </a:r>
          </a:p>
        </p:txBody>
      </p:sp>
      <p:sp>
        <p:nvSpPr>
          <p:cNvPr id="31" name="Text 31"/>
          <p:cNvSpPr/>
          <p:nvPr/>
        </p:nvSpPr>
        <p:spPr>
          <a:xfrm>
            <a:off x="3557016" y="4251960"/>
            <a:ext cx="1399032" cy="35661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Cada usuario paga su parte del pedido.</a:t>
            </a:r>
          </a:p>
        </p:txBody>
      </p:sp>
      <p:sp>
        <p:nvSpPr>
          <p:cNvPr id="32" name="Fondo captura 32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3" name="04_pago.png"/>
          <p:cNvPicPr>
            <a:picLocks noChangeAspect="1"/>
          </p:cNvPicPr>
          <p:nvPr/>
        </p:nvPicPr>
        <p:blipFill>
          <a:blip r:embed="rIdCapture10"/>
          <a:stretch>
            <a:fillRect/>
          </a:stretch>
        </p:blipFill>
        <p:spPr>
          <a:xfrm>
            <a:off x="6062472" y="1963614"/>
            <a:ext cx="5065776" cy="327824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4" name="Fondo captura recortada 3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5" name="urlcrop_04_pago.jpg"/>
          <p:cNvPicPr>
            <a:picLocks noChangeAspect="1"/>
          </p:cNvPicPr>
          <p:nvPr/>
        </p:nvPicPr>
        <p:blipFill>
          <a:blip r:embed="rIdUrlCrop10"/>
          <a:srcRect t="11500"/>
          <a:stretch>
            <a:fillRect/>
          </a:stretch>
        </p:blipFill>
        <p:spPr>
          <a:xfrm>
            <a:off x="6062472" y="2152113"/>
            <a:ext cx="5065776" cy="2901245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7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Factura PDF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Después del pago se puede descargar la factura.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Incluye productos, persona, unidades y subtotal.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Muestra el total final de la operación.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Se genera en PDF mediante jsPDF.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Vista de factura o PDF descargado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11</a:t>
            </a:r>
          </a:p>
        </p:txBody>
      </p:sp>
      <p:sp>
        <p:nvSpPr>
          <p:cNvPr id="24" name="Shape 24"/>
          <p:cNvSpPr/>
          <p:nvPr/>
        </p:nvSpPr>
        <p:spPr>
          <a:xfrm>
            <a:off x="960120" y="3694176"/>
            <a:ext cx="4005072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5" name="Text 25"/>
          <p:cNvSpPr/>
          <p:nvPr/>
        </p:nvSpPr>
        <p:spPr>
          <a:xfrm>
            <a:off x="1234440" y="3877056"/>
            <a:ext cx="2331720" cy="22860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00" b="1">
                <a:solidFill>
                  <a:srgbClr val="0E3A68"/>
                </a:solidFill>
                <a:latin typeface="Aptos"/>
              </a:rPr>
              <a:t>Factura Restaurante Marcos</a:t>
            </a:r>
          </a:p>
        </p:txBody>
      </p:sp>
      <p:sp>
        <p:nvSpPr>
          <p:cNvPr id="26" name="Shape 26"/>
          <p:cNvSpPr/>
          <p:nvPr/>
        </p:nvSpPr>
        <p:spPr>
          <a:xfrm>
            <a:off x="1234440" y="4297680"/>
            <a:ext cx="3456432" cy="320040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7" name="Text 27"/>
          <p:cNvSpPr/>
          <p:nvPr/>
        </p:nvSpPr>
        <p:spPr>
          <a:xfrm>
            <a:off x="1417320" y="4370832"/>
            <a:ext cx="731520" cy="914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80" b="1">
                <a:solidFill>
                  <a:srgbClr val="FFFFFF"/>
                </a:solidFill>
                <a:latin typeface="Aptos"/>
              </a:rPr>
              <a:t>3.00 EUR</a:t>
            </a:r>
          </a:p>
        </p:txBody>
      </p:sp>
      <p:sp>
        <p:nvSpPr>
          <p:cNvPr id="28" name="Text 28"/>
          <p:cNvSpPr/>
          <p:nvPr/>
        </p:nvSpPr>
        <p:spPr>
          <a:xfrm>
            <a:off x="1234440" y="4773168"/>
            <a:ext cx="3108960" cy="13716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50">
                <a:solidFill>
                  <a:srgbClr val="241915"/>
                </a:solidFill>
                <a:latin typeface="Aptos"/>
              </a:rPr>
              <a:t>Detalle de productos · Cerveza · 1 ud.</a:t>
            </a:r>
          </a:p>
        </p:txBody>
      </p:sp>
      <p:sp>
        <p:nvSpPr>
          <p:cNvPr id="29" name="Fondo captura 29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0" name="08_pdf.png"/>
          <p:cNvPicPr>
            <a:picLocks noChangeAspect="1"/>
          </p:cNvPicPr>
          <p:nvPr/>
        </p:nvPicPr>
        <p:blipFill>
          <a:blip r:embed="rIdCapture11"/>
          <a:stretch>
            <a:fillRect/>
          </a:stretch>
        </p:blipFill>
        <p:spPr>
          <a:xfrm>
            <a:off x="6062472" y="1963024"/>
            <a:ext cx="5065776" cy="327942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1" name="Fondo captura recortada 31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2" name="urlcrop_08_pdf.png"/>
          <p:cNvPicPr>
            <a:picLocks noChangeAspect="1"/>
          </p:cNvPicPr>
          <p:nvPr/>
        </p:nvPicPr>
        <p:blipFill>
          <a:blip r:embed="rIdUrlCrop11"/>
          <a:srcRect t="11500"/>
          <a:stretch>
            <a:fillRect/>
          </a:stretch>
        </p:blipFill>
        <p:spPr>
          <a:xfrm>
            <a:off x="6062472" y="2151591"/>
            <a:ext cx="5065776" cy="290229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8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Código QR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El QR conecta el pago con la validación del camarero.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Contiene un enlace de validación temporal.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El camarero lo escanea o abre el enlace.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Sirve para confirmar que el pedido se puede finalizar.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QR generado para validar el pedido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12</a:t>
            </a:r>
          </a:p>
        </p:txBody>
      </p:sp>
      <p:sp>
        <p:nvSpPr>
          <p:cNvPr id="24" name="Shape 24"/>
          <p:cNvSpPr/>
          <p:nvPr/>
        </p:nvSpPr>
        <p:spPr>
          <a:xfrm>
            <a:off x="1170432" y="3657600"/>
            <a:ext cx="120700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Shape 25"/>
          <p:cNvSpPr/>
          <p:nvPr/>
        </p:nvSpPr>
        <p:spPr>
          <a:xfrm>
            <a:off x="1278522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6" name="Shape 26"/>
          <p:cNvSpPr/>
          <p:nvPr/>
        </p:nvSpPr>
        <p:spPr>
          <a:xfrm>
            <a:off x="1368597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7" name="Shape 27"/>
          <p:cNvSpPr/>
          <p:nvPr/>
        </p:nvSpPr>
        <p:spPr>
          <a:xfrm>
            <a:off x="1458673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8" name="Shape 28"/>
          <p:cNvSpPr/>
          <p:nvPr/>
        </p:nvSpPr>
        <p:spPr>
          <a:xfrm>
            <a:off x="1638823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9" name="Shape 29"/>
          <p:cNvSpPr/>
          <p:nvPr/>
        </p:nvSpPr>
        <p:spPr>
          <a:xfrm>
            <a:off x="1728898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0" name="Shape 30"/>
          <p:cNvSpPr/>
          <p:nvPr/>
        </p:nvSpPr>
        <p:spPr>
          <a:xfrm>
            <a:off x="1818974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1" name="Shape 31"/>
          <p:cNvSpPr/>
          <p:nvPr/>
        </p:nvSpPr>
        <p:spPr>
          <a:xfrm>
            <a:off x="1999124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2" name="Shape 32"/>
          <p:cNvSpPr/>
          <p:nvPr/>
        </p:nvSpPr>
        <p:spPr>
          <a:xfrm>
            <a:off x="2089199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3" name="Shape 33"/>
          <p:cNvSpPr/>
          <p:nvPr/>
        </p:nvSpPr>
        <p:spPr>
          <a:xfrm>
            <a:off x="2179275" y="3765690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4" name="Shape 34"/>
          <p:cNvSpPr/>
          <p:nvPr/>
        </p:nvSpPr>
        <p:spPr>
          <a:xfrm>
            <a:off x="1278522" y="3855765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5" name="Shape 35"/>
          <p:cNvSpPr/>
          <p:nvPr/>
        </p:nvSpPr>
        <p:spPr>
          <a:xfrm>
            <a:off x="1458673" y="3855765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6" name="Shape 36"/>
          <p:cNvSpPr/>
          <p:nvPr/>
        </p:nvSpPr>
        <p:spPr>
          <a:xfrm>
            <a:off x="1638823" y="3855765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7" name="Shape 37"/>
          <p:cNvSpPr/>
          <p:nvPr/>
        </p:nvSpPr>
        <p:spPr>
          <a:xfrm>
            <a:off x="1999124" y="3855765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8" name="Shape 38"/>
          <p:cNvSpPr/>
          <p:nvPr/>
        </p:nvSpPr>
        <p:spPr>
          <a:xfrm>
            <a:off x="2179275" y="3855765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9" name="Shape 39"/>
          <p:cNvSpPr/>
          <p:nvPr/>
        </p:nvSpPr>
        <p:spPr>
          <a:xfrm>
            <a:off x="1278522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0" name="Shape 40"/>
          <p:cNvSpPr/>
          <p:nvPr/>
        </p:nvSpPr>
        <p:spPr>
          <a:xfrm>
            <a:off x="1368597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1" name="Shape 41"/>
          <p:cNvSpPr/>
          <p:nvPr/>
        </p:nvSpPr>
        <p:spPr>
          <a:xfrm>
            <a:off x="1458673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2" name="Shape 42"/>
          <p:cNvSpPr/>
          <p:nvPr/>
        </p:nvSpPr>
        <p:spPr>
          <a:xfrm>
            <a:off x="1638823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3" name="Shape 43"/>
          <p:cNvSpPr/>
          <p:nvPr/>
        </p:nvSpPr>
        <p:spPr>
          <a:xfrm>
            <a:off x="1728898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4" name="Shape 44"/>
          <p:cNvSpPr/>
          <p:nvPr/>
        </p:nvSpPr>
        <p:spPr>
          <a:xfrm>
            <a:off x="1818974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5" name="Shape 45"/>
          <p:cNvSpPr/>
          <p:nvPr/>
        </p:nvSpPr>
        <p:spPr>
          <a:xfrm>
            <a:off x="1999124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6" name="Shape 46"/>
          <p:cNvSpPr/>
          <p:nvPr/>
        </p:nvSpPr>
        <p:spPr>
          <a:xfrm>
            <a:off x="2089199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7" name="Shape 47"/>
          <p:cNvSpPr/>
          <p:nvPr/>
        </p:nvSpPr>
        <p:spPr>
          <a:xfrm>
            <a:off x="2179275" y="394584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8" name="Shape 48"/>
          <p:cNvSpPr/>
          <p:nvPr/>
        </p:nvSpPr>
        <p:spPr>
          <a:xfrm>
            <a:off x="1638823" y="403591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49" name="Shape 49"/>
          <p:cNvSpPr/>
          <p:nvPr/>
        </p:nvSpPr>
        <p:spPr>
          <a:xfrm>
            <a:off x="1278522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0" name="Shape 50"/>
          <p:cNvSpPr/>
          <p:nvPr/>
        </p:nvSpPr>
        <p:spPr>
          <a:xfrm>
            <a:off x="1458673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1" name="Shape 51"/>
          <p:cNvSpPr/>
          <p:nvPr/>
        </p:nvSpPr>
        <p:spPr>
          <a:xfrm>
            <a:off x="1548748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2" name="Shape 52"/>
          <p:cNvSpPr/>
          <p:nvPr/>
        </p:nvSpPr>
        <p:spPr>
          <a:xfrm>
            <a:off x="1638823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3" name="Shape 53"/>
          <p:cNvSpPr/>
          <p:nvPr/>
        </p:nvSpPr>
        <p:spPr>
          <a:xfrm>
            <a:off x="1728898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4" name="Shape 54"/>
          <p:cNvSpPr/>
          <p:nvPr/>
        </p:nvSpPr>
        <p:spPr>
          <a:xfrm>
            <a:off x="1909049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5" name="Shape 55"/>
          <p:cNvSpPr/>
          <p:nvPr/>
        </p:nvSpPr>
        <p:spPr>
          <a:xfrm>
            <a:off x="1999124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6" name="Shape 56"/>
          <p:cNvSpPr/>
          <p:nvPr/>
        </p:nvSpPr>
        <p:spPr>
          <a:xfrm>
            <a:off x="2179275" y="4125991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7" name="Shape 57"/>
          <p:cNvSpPr/>
          <p:nvPr/>
        </p:nvSpPr>
        <p:spPr>
          <a:xfrm>
            <a:off x="1368597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8" name="Shape 58"/>
          <p:cNvSpPr/>
          <p:nvPr/>
        </p:nvSpPr>
        <p:spPr>
          <a:xfrm>
            <a:off x="1458673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59" name="Shape 59"/>
          <p:cNvSpPr/>
          <p:nvPr/>
        </p:nvSpPr>
        <p:spPr>
          <a:xfrm>
            <a:off x="1728898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0" name="Shape 60"/>
          <p:cNvSpPr/>
          <p:nvPr/>
        </p:nvSpPr>
        <p:spPr>
          <a:xfrm>
            <a:off x="1818974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1" name="Shape 61"/>
          <p:cNvSpPr/>
          <p:nvPr/>
        </p:nvSpPr>
        <p:spPr>
          <a:xfrm>
            <a:off x="1909049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2" name="Shape 62"/>
          <p:cNvSpPr/>
          <p:nvPr/>
        </p:nvSpPr>
        <p:spPr>
          <a:xfrm>
            <a:off x="2089199" y="4216066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3" name="Shape 63"/>
          <p:cNvSpPr/>
          <p:nvPr/>
        </p:nvSpPr>
        <p:spPr>
          <a:xfrm>
            <a:off x="1278522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4" name="Shape 64"/>
          <p:cNvSpPr/>
          <p:nvPr/>
        </p:nvSpPr>
        <p:spPr>
          <a:xfrm>
            <a:off x="1368597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5" name="Shape 65"/>
          <p:cNvSpPr/>
          <p:nvPr/>
        </p:nvSpPr>
        <p:spPr>
          <a:xfrm>
            <a:off x="1458673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6" name="Shape 66"/>
          <p:cNvSpPr/>
          <p:nvPr/>
        </p:nvSpPr>
        <p:spPr>
          <a:xfrm>
            <a:off x="1638823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7" name="Shape 67"/>
          <p:cNvSpPr/>
          <p:nvPr/>
        </p:nvSpPr>
        <p:spPr>
          <a:xfrm>
            <a:off x="1818974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8" name="Shape 68"/>
          <p:cNvSpPr/>
          <p:nvPr/>
        </p:nvSpPr>
        <p:spPr>
          <a:xfrm>
            <a:off x="1999124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69" name="Shape 69"/>
          <p:cNvSpPr/>
          <p:nvPr/>
        </p:nvSpPr>
        <p:spPr>
          <a:xfrm>
            <a:off x="2089199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0" name="Shape 70"/>
          <p:cNvSpPr/>
          <p:nvPr/>
        </p:nvSpPr>
        <p:spPr>
          <a:xfrm>
            <a:off x="2179275" y="430614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1" name="Shape 71"/>
          <p:cNvSpPr/>
          <p:nvPr/>
        </p:nvSpPr>
        <p:spPr>
          <a:xfrm>
            <a:off x="1638823" y="439621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2" name="Shape 72"/>
          <p:cNvSpPr/>
          <p:nvPr/>
        </p:nvSpPr>
        <p:spPr>
          <a:xfrm>
            <a:off x="1728898" y="439621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3" name="Shape 73"/>
          <p:cNvSpPr/>
          <p:nvPr/>
        </p:nvSpPr>
        <p:spPr>
          <a:xfrm>
            <a:off x="1278522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4" name="Shape 74"/>
          <p:cNvSpPr/>
          <p:nvPr/>
        </p:nvSpPr>
        <p:spPr>
          <a:xfrm>
            <a:off x="1368597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5" name="Shape 75"/>
          <p:cNvSpPr/>
          <p:nvPr/>
        </p:nvSpPr>
        <p:spPr>
          <a:xfrm>
            <a:off x="1458673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6" name="Shape 76"/>
          <p:cNvSpPr/>
          <p:nvPr/>
        </p:nvSpPr>
        <p:spPr>
          <a:xfrm>
            <a:off x="1638823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7" name="Shape 77"/>
          <p:cNvSpPr/>
          <p:nvPr/>
        </p:nvSpPr>
        <p:spPr>
          <a:xfrm>
            <a:off x="1818974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8" name="Shape 78"/>
          <p:cNvSpPr/>
          <p:nvPr/>
        </p:nvSpPr>
        <p:spPr>
          <a:xfrm>
            <a:off x="1909049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79" name="Shape 79"/>
          <p:cNvSpPr/>
          <p:nvPr/>
        </p:nvSpPr>
        <p:spPr>
          <a:xfrm>
            <a:off x="1999124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0" name="Shape 80"/>
          <p:cNvSpPr/>
          <p:nvPr/>
        </p:nvSpPr>
        <p:spPr>
          <a:xfrm>
            <a:off x="2089199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1" name="Shape 81"/>
          <p:cNvSpPr/>
          <p:nvPr/>
        </p:nvSpPr>
        <p:spPr>
          <a:xfrm>
            <a:off x="2179275" y="4486292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2" name="Shape 82"/>
          <p:cNvSpPr/>
          <p:nvPr/>
        </p:nvSpPr>
        <p:spPr>
          <a:xfrm>
            <a:off x="1278522" y="457636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3" name="Shape 83"/>
          <p:cNvSpPr/>
          <p:nvPr/>
        </p:nvSpPr>
        <p:spPr>
          <a:xfrm>
            <a:off x="1458673" y="457636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4" name="Shape 84"/>
          <p:cNvSpPr/>
          <p:nvPr/>
        </p:nvSpPr>
        <p:spPr>
          <a:xfrm>
            <a:off x="1818974" y="457636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5" name="Shape 85"/>
          <p:cNvSpPr/>
          <p:nvPr/>
        </p:nvSpPr>
        <p:spPr>
          <a:xfrm>
            <a:off x="1999124" y="457636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6" name="Shape 86"/>
          <p:cNvSpPr/>
          <p:nvPr/>
        </p:nvSpPr>
        <p:spPr>
          <a:xfrm>
            <a:off x="2179275" y="4576367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7" name="Shape 87"/>
          <p:cNvSpPr/>
          <p:nvPr/>
        </p:nvSpPr>
        <p:spPr>
          <a:xfrm>
            <a:off x="1278522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8" name="Shape 88"/>
          <p:cNvSpPr/>
          <p:nvPr/>
        </p:nvSpPr>
        <p:spPr>
          <a:xfrm>
            <a:off x="1368597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89" name="Shape 89"/>
          <p:cNvSpPr/>
          <p:nvPr/>
        </p:nvSpPr>
        <p:spPr>
          <a:xfrm>
            <a:off x="1458673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0" name="Shape 90"/>
          <p:cNvSpPr/>
          <p:nvPr/>
        </p:nvSpPr>
        <p:spPr>
          <a:xfrm>
            <a:off x="1638823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1" name="Shape 91"/>
          <p:cNvSpPr/>
          <p:nvPr/>
        </p:nvSpPr>
        <p:spPr>
          <a:xfrm>
            <a:off x="1728898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2" name="Shape 92"/>
          <p:cNvSpPr/>
          <p:nvPr/>
        </p:nvSpPr>
        <p:spPr>
          <a:xfrm>
            <a:off x="1818974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3" name="Shape 93"/>
          <p:cNvSpPr/>
          <p:nvPr/>
        </p:nvSpPr>
        <p:spPr>
          <a:xfrm>
            <a:off x="1999124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4" name="Shape 94"/>
          <p:cNvSpPr/>
          <p:nvPr/>
        </p:nvSpPr>
        <p:spPr>
          <a:xfrm>
            <a:off x="2089199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5" name="Shape 95"/>
          <p:cNvSpPr/>
          <p:nvPr/>
        </p:nvSpPr>
        <p:spPr>
          <a:xfrm>
            <a:off x="2179275" y="4666443"/>
            <a:ext cx="70259" cy="70259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96" name="Text 96"/>
          <p:cNvSpPr/>
          <p:nvPr/>
        </p:nvSpPr>
        <p:spPr>
          <a:xfrm>
            <a:off x="2615184" y="3767328"/>
            <a:ext cx="2423160" cy="29260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100" b="1">
                <a:solidFill>
                  <a:srgbClr val="0E3A68"/>
                </a:solidFill>
                <a:latin typeface="Aptos"/>
              </a:rPr>
              <a:t>FAC-MPV2QDPS-1b928eee</a:t>
            </a:r>
          </a:p>
        </p:txBody>
      </p:sp>
      <p:sp>
        <p:nvSpPr>
          <p:cNvPr id="97" name="Text 97"/>
          <p:cNvSpPr/>
          <p:nvPr/>
        </p:nvSpPr>
        <p:spPr>
          <a:xfrm>
            <a:off x="2615184" y="4160520"/>
            <a:ext cx="1920240" cy="4114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50" b="1">
                <a:solidFill>
                  <a:srgbClr val="5E4035"/>
                </a:solidFill>
                <a:latin typeface="Aptos"/>
              </a:rPr>
              <a:t>Orden de camarero:</a:t>
            </a:r>
          </a:p>
          <a:p>
            <a:pPr algn="l"/>
            <a:r>
              <a:rPr lang="es-ES" sz="950" b="1">
                <a:solidFill>
                  <a:srgbClr val="5E4035"/>
                </a:solidFill>
                <a:latin typeface="Aptos"/>
              </a:rPr>
              <a:t>valida y finaliza el pedido</a:t>
            </a:r>
          </a:p>
        </p:txBody>
      </p:sp>
      <p:sp>
        <p:nvSpPr>
          <p:cNvPr id="98" name="Shape 98"/>
          <p:cNvSpPr/>
          <p:nvPr/>
        </p:nvSpPr>
        <p:spPr>
          <a:xfrm>
            <a:off x="2615184" y="4773168"/>
            <a:ext cx="1234440" cy="310896"/>
          </a:xfrm>
          <a:prstGeom prst="roundRect">
            <a:avLst/>
          </a:prstGeom>
          <a:solidFill>
            <a:srgbClr val="33C98D"/>
          </a:solidFill>
          <a:ln w="12700">
            <a:noFill/>
          </a:ln>
          <a:effectLst/>
        </p:spPr>
      </p:sp>
      <p:sp>
        <p:nvSpPr>
          <p:cNvPr id="99" name="Text 99"/>
          <p:cNvSpPr/>
          <p:nvPr/>
        </p:nvSpPr>
        <p:spPr>
          <a:xfrm>
            <a:off x="2615184" y="4846320"/>
            <a:ext cx="1234440" cy="914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50" b="1">
                <a:solidFill>
                  <a:srgbClr val="FFFFFF"/>
                </a:solidFill>
                <a:latin typeface="Aptos"/>
              </a:rPr>
              <a:t>Validar</a:t>
            </a:r>
          </a:p>
        </p:txBody>
      </p:sp>
      <p:sp>
        <p:nvSpPr>
          <p:cNvPr id="100" name="Fondo captura 100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101" name="05_factura_qr.png"/>
          <p:cNvPicPr>
            <a:picLocks noChangeAspect="1"/>
          </p:cNvPicPr>
          <p:nvPr/>
        </p:nvPicPr>
        <p:blipFill>
          <a:blip r:embed="rIdCapture12"/>
          <a:stretch>
            <a:fillRect/>
          </a:stretch>
        </p:blipFill>
        <p:spPr>
          <a:xfrm>
            <a:off x="6062472" y="1963614"/>
            <a:ext cx="5065776" cy="327824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102" name="Fondo captura recortada 102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103" name="urlcrop_05_factura_qr.jpg"/>
          <p:cNvPicPr>
            <a:picLocks noChangeAspect="1"/>
          </p:cNvPicPr>
          <p:nvPr/>
        </p:nvPicPr>
        <p:blipFill>
          <a:blip r:embed="rIdUrlCrop12"/>
          <a:srcRect t="11500"/>
          <a:stretch>
            <a:fillRect/>
          </a:stretch>
        </p:blipFill>
        <p:spPr>
          <a:xfrm>
            <a:off x="6062472" y="2152113"/>
            <a:ext cx="5065776" cy="2901245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PASO 9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Validación del pedido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La última pantalla confirma que el pedido queda cerrado.</a:t>
            </a:r>
          </a:p>
        </p:txBody>
      </p:sp>
      <p:sp>
        <p:nvSpPr>
          <p:cNvPr id="6" name="Shape 6"/>
          <p:cNvSpPr/>
          <p:nvPr/>
        </p:nvSpPr>
        <p:spPr>
          <a:xfrm>
            <a:off x="685800" y="1481328"/>
            <a:ext cx="530352" cy="530352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7" name="Text 7"/>
          <p:cNvSpPr/>
          <p:nvPr/>
        </p:nvSpPr>
        <p:spPr>
          <a:xfrm>
            <a:off x="685800" y="1536192"/>
            <a:ext cx="530352" cy="32918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800" b="1">
                <a:solidFill>
                  <a:srgbClr val="FFFFFF"/>
                </a:solidFill>
                <a:latin typeface="Georgia"/>
              </a:rPr>
              <a:t>9</a:t>
            </a:r>
          </a:p>
        </p:txBody>
      </p:sp>
      <p:sp>
        <p:nvSpPr>
          <p:cNvPr id="8" name="Shape 8"/>
          <p:cNvSpPr/>
          <p:nvPr/>
        </p:nvSpPr>
        <p:spPr>
          <a:xfrm>
            <a:off x="786384" y="221284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9" name="Text 9"/>
          <p:cNvSpPr/>
          <p:nvPr/>
        </p:nvSpPr>
        <p:spPr>
          <a:xfrm>
            <a:off x="1014984" y="213969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El camarero revisa el código.</a:t>
            </a:r>
          </a:p>
        </p:txBody>
      </p:sp>
      <p:sp>
        <p:nvSpPr>
          <p:cNvPr id="10" name="Shape 10"/>
          <p:cNvSpPr/>
          <p:nvPr/>
        </p:nvSpPr>
        <p:spPr>
          <a:xfrm>
            <a:off x="786384" y="270662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1" name="Text 11"/>
          <p:cNvSpPr/>
          <p:nvPr/>
        </p:nvSpPr>
        <p:spPr>
          <a:xfrm>
            <a:off x="1014984" y="263347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La aplicación marca la operación como validada.</a:t>
            </a:r>
          </a:p>
        </p:txBody>
      </p:sp>
      <p:sp>
        <p:nvSpPr>
          <p:cNvPr id="12" name="Shape 12"/>
          <p:cNvSpPr/>
          <p:nvPr/>
        </p:nvSpPr>
        <p:spPr>
          <a:xfrm>
            <a:off x="786384" y="320040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3" name="Text 13"/>
          <p:cNvSpPr/>
          <p:nvPr/>
        </p:nvSpPr>
        <p:spPr>
          <a:xfrm>
            <a:off x="1014984" y="312724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>
                <a:solidFill>
                  <a:srgbClr val="241915"/>
                </a:solidFill>
                <a:latin typeface="Aptos"/>
              </a:rPr>
              <a:t>El pedido se finaliza y ya queda registrado.</a:t>
            </a:r>
          </a:p>
        </p:txBody>
      </p:sp>
      <p:sp>
        <p:nvSpPr>
          <p:cNvPr id="14" name="Shape 14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15" name="Shape 15"/>
          <p:cNvSpPr/>
          <p:nvPr/>
        </p:nvSpPr>
        <p:spPr>
          <a:xfrm>
            <a:off x="6062472" y="158191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16" name="Shape 16"/>
          <p:cNvSpPr/>
          <p:nvPr/>
        </p:nvSpPr>
        <p:spPr>
          <a:xfrm>
            <a:off x="6153912" y="164592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7" name="Shape 17"/>
          <p:cNvSpPr/>
          <p:nvPr/>
        </p:nvSpPr>
        <p:spPr>
          <a:xfrm>
            <a:off x="6217920" y="159105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18" name="Text 18"/>
          <p:cNvSpPr/>
          <p:nvPr/>
        </p:nvSpPr>
        <p:spPr>
          <a:xfrm>
            <a:off x="5897880" y="3438144"/>
            <a:ext cx="539496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19" name="Text 19"/>
          <p:cNvSpPr/>
          <p:nvPr/>
        </p:nvSpPr>
        <p:spPr>
          <a:xfrm>
            <a:off x="6217920" y="5367528"/>
            <a:ext cx="47548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Pantalla de validación del pedido</a:t>
            </a:r>
          </a:p>
        </p:txBody>
      </p:sp>
      <p:sp>
        <p:nvSpPr>
          <p:cNvPr id="20" name="Shape 20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1" name="Shape 21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23" name="Text 23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13</a:t>
            </a:r>
          </a:p>
        </p:txBody>
      </p:sp>
      <p:sp>
        <p:nvSpPr>
          <p:cNvPr id="24" name="Shape 24"/>
          <p:cNvSpPr/>
          <p:nvPr/>
        </p:nvSpPr>
        <p:spPr>
          <a:xfrm>
            <a:off x="1207008" y="3749040"/>
            <a:ext cx="3346704" cy="126187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1536192" y="4005072"/>
            <a:ext cx="493776" cy="493776"/>
          </a:xfrm>
          <a:prstGeom prst="ellipse">
            <a:avLst/>
          </a:prstGeom>
          <a:noFill/>
          <a:ln w="27940">
            <a:solidFill>
              <a:srgbClr val="E11924"/>
            </a:solidFill>
          </a:ln>
          <a:effectLst/>
        </p:spPr>
      </p:sp>
      <p:sp>
        <p:nvSpPr>
          <p:cNvPr id="26" name="Text 26"/>
          <p:cNvSpPr/>
          <p:nvPr/>
        </p:nvSpPr>
        <p:spPr>
          <a:xfrm>
            <a:off x="1609344" y="4105656"/>
            <a:ext cx="347472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2000" b="1">
                <a:solidFill>
                  <a:srgbClr val="E11924"/>
                </a:solidFill>
                <a:latin typeface="Aptos"/>
              </a:rPr>
              <a:t>✓</a:t>
            </a:r>
          </a:p>
        </p:txBody>
      </p:sp>
      <p:sp>
        <p:nvSpPr>
          <p:cNvPr id="27" name="Text 27"/>
          <p:cNvSpPr/>
          <p:nvPr/>
        </p:nvSpPr>
        <p:spPr>
          <a:xfrm>
            <a:off x="2212848" y="3968496"/>
            <a:ext cx="1938528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Pedido validado</a:t>
            </a:r>
          </a:p>
        </p:txBody>
      </p:sp>
      <p:sp>
        <p:nvSpPr>
          <p:cNvPr id="28" name="Text 28"/>
          <p:cNvSpPr/>
          <p:nvPr/>
        </p:nvSpPr>
        <p:spPr>
          <a:xfrm>
            <a:off x="2212848" y="4361688"/>
            <a:ext cx="1938528" cy="27432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980">
                <a:solidFill>
                  <a:srgbClr val="5E4035"/>
                </a:solidFill>
                <a:latin typeface="Aptos"/>
              </a:rPr>
              <a:t>La sala queda cerrada correctamente.</a:t>
            </a:r>
          </a:p>
        </p:txBody>
      </p:sp>
      <p:sp>
        <p:nvSpPr>
          <p:cNvPr id="29" name="Fondo captura 29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0" name="07_pago_realizado.png"/>
          <p:cNvPicPr>
            <a:picLocks noChangeAspect="1"/>
          </p:cNvPicPr>
          <p:nvPr/>
        </p:nvPicPr>
        <p:blipFill>
          <a:blip r:embed="rIdCapture13"/>
          <a:stretch>
            <a:fillRect/>
          </a:stretch>
        </p:blipFill>
        <p:spPr>
          <a:xfrm>
            <a:off x="6062472" y="1963024"/>
            <a:ext cx="5065776" cy="3279423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1" name="Fondo captura recortada 31"/>
          <p:cNvSpPr/>
          <p:nvPr/>
        </p:nvSpPr>
        <p:spPr>
          <a:xfrm>
            <a:off x="5897880" y="1417320"/>
            <a:ext cx="5394960" cy="43708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2" name="urlcrop_07_pago_realizado.png"/>
          <p:cNvPicPr>
            <a:picLocks noChangeAspect="1"/>
          </p:cNvPicPr>
          <p:nvPr/>
        </p:nvPicPr>
        <p:blipFill>
          <a:blip r:embed="rIdUrlCrop13"/>
          <a:srcRect t="11500"/>
          <a:stretch>
            <a:fillRect/>
          </a:stretch>
        </p:blipFill>
        <p:spPr>
          <a:xfrm>
            <a:off x="6062472" y="2151591"/>
            <a:ext cx="5065776" cy="2902290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ARQUITECTURA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Arquitectura del sistema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Comunicación simple entre cliente, API y base de datos.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993392"/>
            <a:ext cx="2029968" cy="107899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923544" y="2212848"/>
            <a:ext cx="429768" cy="429768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8" name="Text 8"/>
          <p:cNvSpPr/>
          <p:nvPr/>
        </p:nvSpPr>
        <p:spPr>
          <a:xfrm>
            <a:off x="914400" y="2322576"/>
            <a:ext cx="42976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 9"/>
          <p:cNvSpPr/>
          <p:nvPr/>
        </p:nvSpPr>
        <p:spPr>
          <a:xfrm>
            <a:off x="1472184" y="2157984"/>
            <a:ext cx="109728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50" b="1">
                <a:solidFill>
                  <a:srgbClr val="0E3A68"/>
                </a:solidFill>
                <a:latin typeface="Aptos"/>
              </a:rPr>
              <a:t>Usuario</a:t>
            </a:r>
          </a:p>
        </p:txBody>
      </p:sp>
      <p:sp>
        <p:nvSpPr>
          <p:cNvPr id="10" name="Text 10"/>
          <p:cNvSpPr/>
          <p:nvPr/>
        </p:nvSpPr>
        <p:spPr>
          <a:xfrm>
            <a:off x="1472184" y="2587752"/>
            <a:ext cx="10789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90">
                <a:solidFill>
                  <a:srgbClr val="5E4035"/>
                </a:solidFill>
                <a:latin typeface="Aptos"/>
              </a:rPr>
              <a:t>Cliente desde el navegador</a:t>
            </a:r>
          </a:p>
        </p:txBody>
      </p:sp>
      <p:sp>
        <p:nvSpPr>
          <p:cNvPr id="11" name="Text 11"/>
          <p:cNvSpPr/>
          <p:nvPr/>
        </p:nvSpPr>
        <p:spPr>
          <a:xfrm>
            <a:off x="2916936" y="2386584"/>
            <a:ext cx="274320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7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12" name="Shape 12"/>
          <p:cNvSpPr/>
          <p:nvPr/>
        </p:nvSpPr>
        <p:spPr>
          <a:xfrm>
            <a:off x="3474720" y="1993392"/>
            <a:ext cx="2029968" cy="107899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3" name="Shape 13"/>
          <p:cNvSpPr/>
          <p:nvPr/>
        </p:nvSpPr>
        <p:spPr>
          <a:xfrm>
            <a:off x="3621024" y="2212848"/>
            <a:ext cx="429768" cy="429768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4" name="Text 14"/>
          <p:cNvSpPr/>
          <p:nvPr/>
        </p:nvSpPr>
        <p:spPr>
          <a:xfrm>
            <a:off x="3611880" y="2322576"/>
            <a:ext cx="42976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 15"/>
          <p:cNvSpPr/>
          <p:nvPr/>
        </p:nvSpPr>
        <p:spPr>
          <a:xfrm>
            <a:off x="4169664" y="2157984"/>
            <a:ext cx="109728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50" b="1">
                <a:solidFill>
                  <a:srgbClr val="0E3A68"/>
                </a:solidFill>
                <a:latin typeface="Aptos"/>
              </a:rPr>
              <a:t>Angular</a:t>
            </a:r>
          </a:p>
        </p:txBody>
      </p:sp>
      <p:sp>
        <p:nvSpPr>
          <p:cNvPr id="16" name="Text 16"/>
          <p:cNvSpPr/>
          <p:nvPr/>
        </p:nvSpPr>
        <p:spPr>
          <a:xfrm>
            <a:off x="4169664" y="2587752"/>
            <a:ext cx="10789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90">
                <a:solidFill>
                  <a:srgbClr val="5E4035"/>
                </a:solidFill>
                <a:latin typeface="Aptos"/>
              </a:rPr>
              <a:t>Interfaz y estado de la sala</a:t>
            </a:r>
          </a:p>
        </p:txBody>
      </p:sp>
      <p:sp>
        <p:nvSpPr>
          <p:cNvPr id="17" name="Text 17"/>
          <p:cNvSpPr/>
          <p:nvPr/>
        </p:nvSpPr>
        <p:spPr>
          <a:xfrm>
            <a:off x="5614416" y="2386584"/>
            <a:ext cx="274320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7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18" name="Shape 18"/>
          <p:cNvSpPr/>
          <p:nvPr/>
        </p:nvSpPr>
        <p:spPr>
          <a:xfrm>
            <a:off x="6172200" y="1993392"/>
            <a:ext cx="2029968" cy="107899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9" name="Shape 19"/>
          <p:cNvSpPr/>
          <p:nvPr/>
        </p:nvSpPr>
        <p:spPr>
          <a:xfrm>
            <a:off x="6318504" y="2212848"/>
            <a:ext cx="429768" cy="429768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0" name="Text 20"/>
          <p:cNvSpPr/>
          <p:nvPr/>
        </p:nvSpPr>
        <p:spPr>
          <a:xfrm>
            <a:off x="6309360" y="2322576"/>
            <a:ext cx="42976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 21"/>
          <p:cNvSpPr/>
          <p:nvPr/>
        </p:nvSpPr>
        <p:spPr>
          <a:xfrm>
            <a:off x="6867144" y="2157984"/>
            <a:ext cx="109728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50" b="1">
                <a:solidFill>
                  <a:srgbClr val="0E3A68"/>
                </a:solidFill>
                <a:latin typeface="Aptos"/>
              </a:rPr>
              <a:t>API REST</a:t>
            </a:r>
          </a:p>
          <a:p>
            <a:pPr algn="l"/>
            <a:r>
              <a:rPr lang="es-ES" sz="1250" b="1">
                <a:solidFill>
                  <a:srgbClr val="0E3A68"/>
                </a:solidFill>
                <a:latin typeface="Aptos"/>
              </a:rPr>
              <a:t>Spring Boot</a:t>
            </a:r>
          </a:p>
        </p:txBody>
      </p:sp>
      <p:sp>
        <p:nvSpPr>
          <p:cNvPr id="22" name="Text 22"/>
          <p:cNvSpPr/>
          <p:nvPr/>
        </p:nvSpPr>
        <p:spPr>
          <a:xfrm>
            <a:off x="6867144" y="2587752"/>
            <a:ext cx="10789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90">
                <a:solidFill>
                  <a:srgbClr val="5E4035"/>
                </a:solidFill>
                <a:latin typeface="Aptos"/>
              </a:rPr>
              <a:t>Servicios y reglas de negocio</a:t>
            </a:r>
          </a:p>
        </p:txBody>
      </p:sp>
      <p:sp>
        <p:nvSpPr>
          <p:cNvPr id="23" name="Text 23"/>
          <p:cNvSpPr/>
          <p:nvPr/>
        </p:nvSpPr>
        <p:spPr>
          <a:xfrm>
            <a:off x="8311896" y="2386584"/>
            <a:ext cx="274320" cy="18288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700" b="1">
                <a:solidFill>
                  <a:srgbClr val="7A5D52"/>
                </a:solidFill>
                <a:latin typeface="Aptos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8869680" y="1993392"/>
            <a:ext cx="2029968" cy="1078992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25" name="Shape 25"/>
          <p:cNvSpPr/>
          <p:nvPr/>
        </p:nvSpPr>
        <p:spPr>
          <a:xfrm>
            <a:off x="9015984" y="2212848"/>
            <a:ext cx="429768" cy="429768"/>
          </a:xfrm>
          <a:prstGeom prst="ellipse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26" name="Text 26"/>
          <p:cNvSpPr/>
          <p:nvPr/>
        </p:nvSpPr>
        <p:spPr>
          <a:xfrm>
            <a:off x="9006840" y="2322576"/>
            <a:ext cx="429768" cy="10972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 27"/>
          <p:cNvSpPr/>
          <p:nvPr/>
        </p:nvSpPr>
        <p:spPr>
          <a:xfrm>
            <a:off x="9564624" y="2157984"/>
            <a:ext cx="109728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50" b="1">
                <a:solidFill>
                  <a:srgbClr val="0E3A68"/>
                </a:solidFill>
                <a:latin typeface="Aptos"/>
              </a:rPr>
              <a:t>MySQL</a:t>
            </a:r>
          </a:p>
        </p:txBody>
      </p:sp>
      <p:sp>
        <p:nvSpPr>
          <p:cNvPr id="28" name="Text 28"/>
          <p:cNvSpPr/>
          <p:nvPr/>
        </p:nvSpPr>
        <p:spPr>
          <a:xfrm>
            <a:off x="9564624" y="2587752"/>
            <a:ext cx="107899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790">
                <a:solidFill>
                  <a:srgbClr val="5E4035"/>
                </a:solidFill>
                <a:latin typeface="Aptos"/>
              </a:rPr>
              <a:t>Productos, pedidos y facturas</a:t>
            </a:r>
          </a:p>
        </p:txBody>
      </p:sp>
      <p:sp>
        <p:nvSpPr>
          <p:cNvPr id="29" name="Shape 29"/>
          <p:cNvSpPr/>
          <p:nvPr/>
        </p:nvSpPr>
        <p:spPr>
          <a:xfrm>
            <a:off x="1828800" y="4023360"/>
            <a:ext cx="8549640" cy="139903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30" name="Shape 30"/>
          <p:cNvSpPr/>
          <p:nvPr/>
        </p:nvSpPr>
        <p:spPr>
          <a:xfrm>
            <a:off x="1993392" y="418795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31" name="Shape 31"/>
          <p:cNvSpPr/>
          <p:nvPr/>
        </p:nvSpPr>
        <p:spPr>
          <a:xfrm>
            <a:off x="2084832" y="425196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32" name="Shape 32"/>
          <p:cNvSpPr/>
          <p:nvPr/>
        </p:nvSpPr>
        <p:spPr>
          <a:xfrm>
            <a:off x="2148840" y="419709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33" name="Text 33"/>
          <p:cNvSpPr/>
          <p:nvPr/>
        </p:nvSpPr>
        <p:spPr>
          <a:xfrm>
            <a:off x="1828800" y="4558284"/>
            <a:ext cx="8549640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34" name="Text 34"/>
          <p:cNvSpPr/>
          <p:nvPr/>
        </p:nvSpPr>
        <p:spPr>
          <a:xfrm>
            <a:off x="2148840" y="5001768"/>
            <a:ext cx="790956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Captura de estructura, endpoints o diagrama ampliado</a:t>
            </a:r>
          </a:p>
        </p:txBody>
      </p:sp>
      <p:sp>
        <p:nvSpPr>
          <p:cNvPr id="35" name="Shape 35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6" name="Shape 36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7" name="Text 37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38" name="Text 38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14</a:t>
            </a:r>
          </a:p>
        </p:txBody>
      </p:sp>
      <p:sp>
        <p:nvSpPr>
          <p:cNvPr id="39" name="Fondo captura 39"/>
          <p:cNvSpPr/>
          <p:nvPr/>
        </p:nvSpPr>
        <p:spPr>
          <a:xfrm>
            <a:off x="1828800" y="4023360"/>
            <a:ext cx="8549640" cy="1399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40" name="05_factura_qr.png"/>
          <p:cNvPicPr>
            <a:picLocks noChangeAspect="1"/>
          </p:cNvPicPr>
          <p:nvPr/>
        </p:nvPicPr>
        <p:blipFill>
          <a:blip r:embed="rIdCapture14"/>
          <a:stretch>
            <a:fillRect/>
          </a:stretch>
        </p:blipFill>
        <p:spPr>
          <a:xfrm>
            <a:off x="5130772" y="4093312"/>
            <a:ext cx="1945696" cy="1259129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41" name="Fondo captura recortada 41"/>
          <p:cNvSpPr/>
          <p:nvPr/>
        </p:nvSpPr>
        <p:spPr>
          <a:xfrm>
            <a:off x="1828800" y="4023360"/>
            <a:ext cx="8549640" cy="13990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42" name="urlcrop_05_factura_qr.jpg"/>
          <p:cNvPicPr>
            <a:picLocks noChangeAspect="1"/>
          </p:cNvPicPr>
          <p:nvPr/>
        </p:nvPicPr>
        <p:blipFill>
          <a:blip r:embed="rIdUrlCrop14"/>
          <a:srcRect t="11500"/>
          <a:stretch>
            <a:fillRect/>
          </a:stretch>
        </p:blipFill>
        <p:spPr>
          <a:xfrm>
            <a:off x="5004357" y="4093312"/>
            <a:ext cx="2198527" cy="1259129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420624" y="402336"/>
            <a:ext cx="118872" cy="566928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" name="Text 3"/>
          <p:cNvSpPr/>
          <p:nvPr/>
        </p:nvSpPr>
        <p:spPr>
          <a:xfrm>
            <a:off x="685800" y="329184"/>
            <a:ext cx="4389120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 b="1">
                <a:solidFill>
                  <a:srgbClr val="E11924"/>
                </a:solidFill>
                <a:latin typeface="Aptos"/>
              </a:rPr>
              <a:t>CONCLUSIÓN</a:t>
            </a:r>
          </a:p>
        </p:txBody>
      </p:sp>
      <p:sp>
        <p:nvSpPr>
          <p:cNvPr id="4" name="Text 4"/>
          <p:cNvSpPr/>
          <p:nvPr/>
        </p:nvSpPr>
        <p:spPr>
          <a:xfrm>
            <a:off x="667512" y="612648"/>
            <a:ext cx="6583680" cy="51206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2800" b="1">
                <a:solidFill>
                  <a:srgbClr val="0E3A68"/>
                </a:solidFill>
                <a:latin typeface="Georgia"/>
              </a:rPr>
              <a:t>Resultado y mejoras futuras</a:t>
            </a:r>
          </a:p>
        </p:txBody>
      </p:sp>
      <p:sp>
        <p:nvSpPr>
          <p:cNvPr id="5" name="Text 5"/>
          <p:cNvSpPr/>
          <p:nvPr/>
        </p:nvSpPr>
        <p:spPr>
          <a:xfrm>
            <a:off x="694944" y="1115568"/>
            <a:ext cx="5852160" cy="320040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200">
                <a:solidFill>
                  <a:srgbClr val="5E4035"/>
                </a:solidFill>
                <a:latin typeface="Aptos"/>
              </a:rPr>
              <a:t>La aplicación cubre el flujo completo de un pedido de restaurante.</a:t>
            </a:r>
          </a:p>
        </p:txBody>
      </p:sp>
      <p:sp>
        <p:nvSpPr>
          <p:cNvPr id="6" name="Shape 6"/>
          <p:cNvSpPr/>
          <p:nvPr/>
        </p:nvSpPr>
        <p:spPr>
          <a:xfrm>
            <a:off x="777240" y="1691640"/>
            <a:ext cx="3337560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941832" y="1856232"/>
            <a:ext cx="118872" cy="768096"/>
          </a:xfrm>
          <a:prstGeom prst="round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8" name="Text 8"/>
          <p:cNvSpPr/>
          <p:nvPr/>
        </p:nvSpPr>
        <p:spPr>
          <a:xfrm>
            <a:off x="1188720" y="1874520"/>
            <a:ext cx="277063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Qué se ha conseguido</a:t>
            </a:r>
          </a:p>
        </p:txBody>
      </p:sp>
      <p:sp>
        <p:nvSpPr>
          <p:cNvPr id="9" name="Text 9"/>
          <p:cNvSpPr/>
          <p:nvPr/>
        </p:nvSpPr>
        <p:spPr>
          <a:xfrm>
            <a:off x="1188720" y="2212848"/>
            <a:ext cx="2770632" cy="4297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Entrada a sala, menú, carrito compartido, pago, factura PDF, QR y validación.</a:t>
            </a:r>
          </a:p>
        </p:txBody>
      </p:sp>
      <p:sp>
        <p:nvSpPr>
          <p:cNvPr id="10" name="Shape 10"/>
          <p:cNvSpPr/>
          <p:nvPr/>
        </p:nvSpPr>
        <p:spPr>
          <a:xfrm>
            <a:off x="777240" y="2999232"/>
            <a:ext cx="3337560" cy="1097280"/>
          </a:xfrm>
          <a:prstGeom prst="roundRect">
            <a:avLst/>
          </a:prstGeom>
          <a:solidFill>
            <a:srgbClr val="FFFAF1"/>
          </a:solidFill>
          <a:ln w="12700">
            <a:solidFill>
              <a:srgbClr val="F0BE9D"/>
            </a:solidFill>
          </a:ln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941832" y="3163824"/>
            <a:ext cx="118872" cy="768096"/>
          </a:xfrm>
          <a:prstGeom prst="round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12" name="Text 12"/>
          <p:cNvSpPr/>
          <p:nvPr/>
        </p:nvSpPr>
        <p:spPr>
          <a:xfrm>
            <a:off x="1188720" y="3182112"/>
            <a:ext cx="2770632" cy="25603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350" b="1">
                <a:solidFill>
                  <a:srgbClr val="0E3A68"/>
                </a:solidFill>
                <a:latin typeface="Aptos"/>
              </a:rPr>
              <a:t>Valor del proyecto</a:t>
            </a:r>
          </a:p>
        </p:txBody>
      </p:sp>
      <p:sp>
        <p:nvSpPr>
          <p:cNvPr id="13" name="Text 13"/>
          <p:cNvSpPr/>
          <p:nvPr/>
        </p:nvSpPr>
        <p:spPr>
          <a:xfrm>
            <a:off x="1188720" y="3520440"/>
            <a:ext cx="2770632" cy="4297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50">
                <a:solidFill>
                  <a:srgbClr val="5E4035"/>
                </a:solidFill>
                <a:latin typeface="Aptos"/>
              </a:rPr>
              <a:t>Muestra una integración completa entre frontend, backend y base de datos.</a:t>
            </a:r>
          </a:p>
        </p:txBody>
      </p:sp>
      <p:sp>
        <p:nvSpPr>
          <p:cNvPr id="14" name="Text 14"/>
          <p:cNvSpPr/>
          <p:nvPr/>
        </p:nvSpPr>
        <p:spPr>
          <a:xfrm>
            <a:off x="850392" y="4617720"/>
            <a:ext cx="3840480" cy="237744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400" b="1">
                <a:solidFill>
                  <a:srgbClr val="0E3A68"/>
                </a:solidFill>
                <a:latin typeface="Aptos"/>
              </a:rPr>
              <a:t>Posibles mejoras</a:t>
            </a:r>
          </a:p>
        </p:txBody>
      </p:sp>
      <p:sp>
        <p:nvSpPr>
          <p:cNvPr id="15" name="Shape 15"/>
          <p:cNvSpPr/>
          <p:nvPr/>
        </p:nvSpPr>
        <p:spPr>
          <a:xfrm>
            <a:off x="877824" y="5084064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6" name="Text 16"/>
          <p:cNvSpPr/>
          <p:nvPr/>
        </p:nvSpPr>
        <p:spPr>
          <a:xfrm>
            <a:off x="1106424" y="5010912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80">
                <a:solidFill>
                  <a:srgbClr val="241915"/>
                </a:solidFill>
                <a:latin typeface="Aptos"/>
              </a:rPr>
              <a:t>Login real.</a:t>
            </a:r>
          </a:p>
        </p:txBody>
      </p:sp>
      <p:sp>
        <p:nvSpPr>
          <p:cNvPr id="17" name="Shape 17"/>
          <p:cNvSpPr/>
          <p:nvPr/>
        </p:nvSpPr>
        <p:spPr>
          <a:xfrm>
            <a:off x="877824" y="5376672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18" name="Text 18"/>
          <p:cNvSpPr/>
          <p:nvPr/>
        </p:nvSpPr>
        <p:spPr>
          <a:xfrm>
            <a:off x="1106424" y="5303520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80">
                <a:solidFill>
                  <a:srgbClr val="241915"/>
                </a:solidFill>
                <a:latin typeface="Aptos"/>
              </a:rPr>
              <a:t>Pasarela de pago real.</a:t>
            </a:r>
          </a:p>
        </p:txBody>
      </p:sp>
      <p:sp>
        <p:nvSpPr>
          <p:cNvPr id="19" name="Shape 19"/>
          <p:cNvSpPr/>
          <p:nvPr/>
        </p:nvSpPr>
        <p:spPr>
          <a:xfrm>
            <a:off x="877824" y="5669280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0" name="Text 20"/>
          <p:cNvSpPr/>
          <p:nvPr/>
        </p:nvSpPr>
        <p:spPr>
          <a:xfrm>
            <a:off x="1106424" y="5596128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80">
                <a:solidFill>
                  <a:srgbClr val="241915"/>
                </a:solidFill>
                <a:latin typeface="Aptos"/>
              </a:rPr>
              <a:t>Historial de pedidos.</a:t>
            </a:r>
          </a:p>
        </p:txBody>
      </p:sp>
      <p:sp>
        <p:nvSpPr>
          <p:cNvPr id="21" name="Shape 21"/>
          <p:cNvSpPr/>
          <p:nvPr/>
        </p:nvSpPr>
        <p:spPr>
          <a:xfrm>
            <a:off x="877824" y="5961888"/>
            <a:ext cx="100584" cy="100584"/>
          </a:xfrm>
          <a:prstGeom prst="ellipse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22" name="Text 22"/>
          <p:cNvSpPr/>
          <p:nvPr/>
        </p:nvSpPr>
        <p:spPr>
          <a:xfrm>
            <a:off x="1106424" y="5888736"/>
            <a:ext cx="4663440" cy="31089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1080">
                <a:solidFill>
                  <a:srgbClr val="241915"/>
                </a:solidFill>
                <a:latin typeface="Aptos"/>
              </a:rPr>
              <a:t>Más seguridad para el QR.</a:t>
            </a:r>
          </a:p>
        </p:txBody>
      </p:sp>
      <p:sp>
        <p:nvSpPr>
          <p:cNvPr id="23" name="Shape 23"/>
          <p:cNvSpPr/>
          <p:nvPr/>
        </p:nvSpPr>
        <p:spPr>
          <a:xfrm>
            <a:off x="4736592" y="1600200"/>
            <a:ext cx="6510528" cy="41605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F0BE9D"/>
            </a:solidFill>
            <a:prstDash val="dash"/>
          </a:ln>
          <a:effectLst/>
        </p:spPr>
      </p:sp>
      <p:sp>
        <p:nvSpPr>
          <p:cNvPr id="24" name="Shape 24"/>
          <p:cNvSpPr/>
          <p:nvPr/>
        </p:nvSpPr>
        <p:spPr>
          <a:xfrm>
            <a:off x="4901184" y="1764792"/>
            <a:ext cx="411480" cy="310896"/>
          </a:xfrm>
          <a:prstGeom prst="roundRect">
            <a:avLst/>
          </a:prstGeom>
          <a:solidFill>
            <a:srgbClr val="FBEBD1"/>
          </a:solidFill>
          <a:ln w="12700">
            <a:solidFill>
              <a:srgbClr val="F0BE9D"/>
            </a:solidFill>
          </a:ln>
          <a:effectLst/>
        </p:spPr>
      </p:sp>
      <p:sp>
        <p:nvSpPr>
          <p:cNvPr id="25" name="Shape 25"/>
          <p:cNvSpPr/>
          <p:nvPr/>
        </p:nvSpPr>
        <p:spPr>
          <a:xfrm>
            <a:off x="4992624" y="1828800"/>
            <a:ext cx="228600" cy="146304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26" name="Shape 26"/>
          <p:cNvSpPr/>
          <p:nvPr/>
        </p:nvSpPr>
        <p:spPr>
          <a:xfrm>
            <a:off x="5056632" y="1773936"/>
            <a:ext cx="91440" cy="64008"/>
          </a:xfrm>
          <a:prstGeom prst="rect">
            <a:avLst/>
          </a:prstGeom>
          <a:noFill/>
          <a:ln w="13970">
            <a:solidFill>
              <a:srgbClr val="0E3A68"/>
            </a:solidFill>
          </a:ln>
          <a:effectLst/>
        </p:spPr>
      </p:sp>
      <p:sp>
        <p:nvSpPr>
          <p:cNvPr id="27" name="Text 27"/>
          <p:cNvSpPr/>
          <p:nvPr/>
        </p:nvSpPr>
        <p:spPr>
          <a:xfrm>
            <a:off x="4736592" y="3515868"/>
            <a:ext cx="6510528" cy="347472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ctr" lIns="0" tIns="0" rIns="0" bIns="0">
            <a:spAutoFit/>
          </a:bodyPr>
          <a:lstStyle/>
          <a:p>
            <a:pPr algn="ctr"/>
            <a:r>
              <a:rPr lang="es-ES" sz="1700" b="1">
                <a:solidFill>
                  <a:srgbClr val="0E3A68"/>
                </a:solidFill>
                <a:latin typeface="Aptos"/>
              </a:rPr>
              <a:t>Captura de pantalla aquí</a:t>
            </a:r>
          </a:p>
        </p:txBody>
      </p:sp>
      <p:sp>
        <p:nvSpPr>
          <p:cNvPr id="28" name="Text 28"/>
          <p:cNvSpPr/>
          <p:nvPr/>
        </p:nvSpPr>
        <p:spPr>
          <a:xfrm>
            <a:off x="5056632" y="5340096"/>
            <a:ext cx="5870448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lang="es-ES" sz="950">
                <a:solidFill>
                  <a:srgbClr val="7A5D52"/>
                </a:solidFill>
                <a:latin typeface="Aptos"/>
              </a:rPr>
              <a:t>Captura final, demo completa o pantalla de cierre</a:t>
            </a:r>
          </a:p>
        </p:txBody>
      </p:sp>
      <p:sp>
        <p:nvSpPr>
          <p:cNvPr id="29" name="Shape 29"/>
          <p:cNvSpPr/>
          <p:nvPr/>
        </p:nvSpPr>
        <p:spPr>
          <a:xfrm>
            <a:off x="0" y="6656832"/>
            <a:ext cx="12192000" cy="36576"/>
          </a:xfrm>
          <a:prstGeom prst="rect">
            <a:avLst/>
          </a:prstGeom>
          <a:solidFill>
            <a:srgbClr val="0E3A68"/>
          </a:solidFill>
          <a:ln w="12700">
            <a:noFill/>
          </a:ln>
          <a:effectLst/>
        </p:spPr>
      </p:sp>
      <p:sp>
        <p:nvSpPr>
          <p:cNvPr id="30" name="Shape 30"/>
          <p:cNvSpPr/>
          <p:nvPr/>
        </p:nvSpPr>
        <p:spPr>
          <a:xfrm>
            <a:off x="0" y="6601968"/>
            <a:ext cx="12192000" cy="36576"/>
          </a:xfrm>
          <a:prstGeom prst="rect">
            <a:avLst/>
          </a:prstGeom>
          <a:solidFill>
            <a:srgbClr val="E11924"/>
          </a:solidFill>
          <a:ln w="12700">
            <a:noFill/>
          </a:ln>
          <a:effectLst/>
        </p:spPr>
      </p:sp>
      <p:sp>
        <p:nvSpPr>
          <p:cNvPr id="31" name="Text 31"/>
          <p:cNvSpPr/>
          <p:nvPr/>
        </p:nvSpPr>
        <p:spPr>
          <a:xfrm>
            <a:off x="411480" y="6428232"/>
            <a:ext cx="3291840" cy="201168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es-ES" sz="850">
                <a:solidFill>
                  <a:srgbClr val="7A5D52"/>
                </a:solidFill>
                <a:latin typeface="Aptos"/>
              </a:rPr>
              <a:t>Restaurante Marcos · Guía de demostración</a:t>
            </a:r>
          </a:p>
        </p:txBody>
      </p:sp>
      <p:sp>
        <p:nvSpPr>
          <p:cNvPr id="32" name="Text 32"/>
          <p:cNvSpPr/>
          <p:nvPr/>
        </p:nvSpPr>
        <p:spPr>
          <a:xfrm>
            <a:off x="11320272" y="6419088"/>
            <a:ext cx="411480" cy="219456"/>
          </a:xfrm>
          <a:prstGeom prst="rect">
            <a:avLst/>
          </a:prstGeom>
          <a:noFill/>
          <a:ln w="12700">
            <a:noFill/>
          </a:ln>
          <a:effectLst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lang="es-ES" sz="900" b="1">
                <a:solidFill>
                  <a:srgbClr val="0E3A68"/>
                </a:solidFill>
                <a:latin typeface="Aptos"/>
              </a:rPr>
              <a:t>15</a:t>
            </a:r>
          </a:p>
        </p:txBody>
      </p:sp>
      <p:sp>
        <p:nvSpPr>
          <p:cNvPr id="33" name="Fondo captura 33"/>
          <p:cNvSpPr/>
          <p:nvPr/>
        </p:nvSpPr>
        <p:spPr>
          <a:xfrm>
            <a:off x="4736592" y="1600200"/>
            <a:ext cx="6510528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4" name="07_pago_realizado.png"/>
          <p:cNvPicPr>
            <a:picLocks noChangeAspect="1"/>
          </p:cNvPicPr>
          <p:nvPr/>
        </p:nvPicPr>
        <p:blipFill>
          <a:blip r:embed="rIdCapture15"/>
          <a:stretch>
            <a:fillRect/>
          </a:stretch>
        </p:blipFill>
        <p:spPr>
          <a:xfrm>
            <a:off x="5032694" y="1764792"/>
            <a:ext cx="5918324" cy="3831336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  <p:sp>
        <p:nvSpPr>
          <p:cNvPr id="35" name="Fondo captura recortada 35"/>
          <p:cNvSpPr/>
          <p:nvPr/>
        </p:nvSpPr>
        <p:spPr>
          <a:xfrm>
            <a:off x="4736592" y="1600200"/>
            <a:ext cx="6510528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0BE9D"/>
            </a:solidFill>
          </a:ln>
          <a:effectLst/>
        </p:spPr>
      </p:sp>
      <p:pic>
        <p:nvPicPr>
          <p:cNvPr id="36" name="urlcrop_07_pago_realizado.png"/>
          <p:cNvPicPr>
            <a:picLocks noChangeAspect="1"/>
          </p:cNvPicPr>
          <p:nvPr/>
        </p:nvPicPr>
        <p:blipFill>
          <a:blip r:embed="rIdUrlCrop15"/>
          <a:srcRect t="11500"/>
          <a:stretch>
            <a:fillRect/>
          </a:stretch>
        </p:blipFill>
        <p:spPr>
          <a:xfrm>
            <a:off x="4901184" y="1909749"/>
            <a:ext cx="6181344" cy="3541422"/>
          </a:xfrm>
          <a:prstGeom prst="rect">
            <a:avLst/>
          </a:prstGeom>
          <a:noFill/>
          <a:ln w="10160">
            <a:solidFill>
              <a:srgbClr val="F0BE9D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staurante Marcos">
  <a:themeElements>
    <a:clrScheme name="Marcos">
      <a:dk1>
        <a:srgbClr val="241915"/>
      </a:dk1>
      <a:lt1>
        <a:srgbClr val="FFF4E4"/>
      </a:lt1>
      <a:dk2>
        <a:srgbClr val="0E3A68"/>
      </a:dk2>
      <a:lt2>
        <a:srgbClr val="FFFAF1"/>
      </a:lt2>
      <a:accent1>
        <a:srgbClr val="E11924"/>
      </a:accent1>
      <a:accent2>
        <a:srgbClr val="0E3A68"/>
      </a:accent2>
      <a:accent3>
        <a:srgbClr val="33C98D"/>
      </a:accent3>
      <a:accent4>
        <a:srgbClr val="FBEBD1"/>
      </a:accent4>
      <a:accent5>
        <a:srgbClr val="7A5D52"/>
      </a:accent5>
      <a:accent6>
        <a:srgbClr val="F0BE9D"/>
      </a:accent6>
      <a:hlink>
        <a:srgbClr val="145C9E"/>
      </a:hlink>
      <a:folHlink>
        <a:srgbClr val="B70F1B"/>
      </a:folHlink>
    </a:clrScheme>
    <a:fontScheme name="Marcos Fonts">
      <a:majorFont>
        <a:latin typeface="Georgia"/>
      </a:majorFont>
      <a:minorFont>
        <a:latin typeface="Aptos"/>
      </a:minorFont>
    </a:fontScheme>
    <a:fmtScheme name="Marcos Format">
      <a:fillStyleLst>
        <a:solidFill>
          <a:srgbClr val="FFFFFF"/>
        </a:solidFill>
        <a:solidFill>
          <a:srgbClr val="FFFAF1"/>
        </a:solidFill>
        <a:solidFill>
          <a:srgbClr val="FBEBD1"/>
        </a:solidFill>
      </a:fillStyleLst>
      <a:lnStyleLst>
        <a:ln w="12700">
          <a:solidFill>
            <a:srgbClr val="F0BE9D"/>
          </a:solidFill>
        </a:ln>
        <a:ln w="12700">
          <a:solidFill>
            <a:srgbClr val="E11924"/>
          </a:solidFill>
        </a:ln>
        <a:ln w="12700">
          <a:solidFill>
            <a:srgbClr val="0E3A68"/>
          </a:solidFill>
        </a:ln>
      </a:lnStyleLst>
      <a:effectStyleLst>
        <a:effectStyle>
          <a:effectLst/>
        </a:effectStyle>
        <a:effectStyle>
          <a:effectLst>
            <a:outerShdw blurRad="63500" dist="25400" dir="5400000" algn="tl" rotWithShape="0">
              <a:srgbClr val="76503B">
                <a:alpha val="18000"/>
              </a:srgbClr>
            </a:outerShdw>
          </a:effectLst>
        </a:effectStyle>
        <a:effectStyle>
          <a:effectLst/>
        </a:effectStyle>
      </a:effectStyleLst>
      <a:bgFillStyleLst>
        <a:solidFill>
          <a:srgbClr val="FFF4E4"/>
        </a:solidFill>
        <a:solidFill>
          <a:srgbClr val="FFFFFF"/>
        </a:solidFill>
        <a:solidFill>
          <a:srgbClr val="FFFAF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15</Slides>
  <Company>Restaurante Marcos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Restaurante Marcos</dc:title>
  <dc:subject>Aplicación web para gestión de pedidos en restaurante</dc:subject>
  <dc:creator>Codex</dc:creator>
  <cp:keywords>Angular Spring Boot MySQL QR factura PDF restaurante</cp:keywords>
  <dc:description>Presentación de demostración del proyecto Restaurante Marcos.</dc:description>
  <cp:lastModifiedBy>Codex</cp:lastModifiedBy>
  <dcterms:created xsi:type="dcterms:W3CDTF">2026-06-01T10:45:15+00:00</dcterms:created>
  <dcterms:modified xsi:type="dcterms:W3CDTF">2026-06-01T10:45:15+00:00</dcterms:modified>
</cp:coreProperties>
</file>